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113000" cy="21374100"/>
  <p:notesSz cx="6858000" cy="9144000"/>
  <p:embeddedFontLst>
    <p:embeddedFont>
      <p:font typeface="Poppins Heavy" charset="1" panose="00000A00000000000000"/>
      <p:regular r:id="rId7"/>
    </p:embeddedFont>
    <p:embeddedFont>
      <p:font typeface="Poppins Bold" charset="1" panose="00000800000000000000"/>
      <p:regular r:id="rId8"/>
    </p:embeddedFont>
    <p:embeddedFont>
      <p:font typeface="Poppins Semi-Bold" charset="1" panose="00000700000000000000"/>
      <p:regular r:id="rId9"/>
    </p:embeddedFont>
    <p:embeddedFont>
      <p:font typeface="Poppins" charset="1" panose="0000050000000000000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519" y="1345816"/>
            <a:ext cx="12740387" cy="3951062"/>
            <a:chOff x="0" y="0"/>
            <a:chExt cx="2285904" cy="7089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5903" cy="708907"/>
            </a:xfrm>
            <a:custGeom>
              <a:avLst/>
              <a:gdLst/>
              <a:ahLst/>
              <a:cxnLst/>
              <a:rect r="r" b="b" t="t" l="l"/>
              <a:pathLst>
                <a:path h="708907" w="2285903">
                  <a:moveTo>
                    <a:pt x="15192" y="0"/>
                  </a:moveTo>
                  <a:lnTo>
                    <a:pt x="2270712" y="0"/>
                  </a:lnTo>
                  <a:cubicBezTo>
                    <a:pt x="2279102" y="0"/>
                    <a:pt x="2285903" y="6802"/>
                    <a:pt x="2285903" y="15192"/>
                  </a:cubicBezTo>
                  <a:lnTo>
                    <a:pt x="2285903" y="693715"/>
                  </a:lnTo>
                  <a:cubicBezTo>
                    <a:pt x="2285903" y="697744"/>
                    <a:pt x="2284303" y="701608"/>
                    <a:pt x="2281454" y="704457"/>
                  </a:cubicBezTo>
                  <a:cubicBezTo>
                    <a:pt x="2278605" y="707306"/>
                    <a:pt x="2274741" y="708907"/>
                    <a:pt x="2270712" y="708907"/>
                  </a:cubicBezTo>
                  <a:lnTo>
                    <a:pt x="15192" y="708907"/>
                  </a:lnTo>
                  <a:cubicBezTo>
                    <a:pt x="11163" y="708907"/>
                    <a:pt x="7299" y="707306"/>
                    <a:pt x="4450" y="704457"/>
                  </a:cubicBezTo>
                  <a:cubicBezTo>
                    <a:pt x="1601" y="701608"/>
                    <a:pt x="0" y="697744"/>
                    <a:pt x="0" y="693715"/>
                  </a:cubicBezTo>
                  <a:lnTo>
                    <a:pt x="0" y="15192"/>
                  </a:lnTo>
                  <a:cubicBezTo>
                    <a:pt x="0" y="11163"/>
                    <a:pt x="1601" y="7299"/>
                    <a:pt x="4450" y="4450"/>
                  </a:cubicBezTo>
                  <a:cubicBezTo>
                    <a:pt x="7299" y="1601"/>
                    <a:pt x="11163" y="0"/>
                    <a:pt x="15192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85904" cy="766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84549" y="1851679"/>
            <a:ext cx="9366521" cy="1008606"/>
            <a:chOff x="0" y="0"/>
            <a:chExt cx="1680558" cy="18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80558" cy="180966"/>
            </a:xfrm>
            <a:custGeom>
              <a:avLst/>
              <a:gdLst/>
              <a:ahLst/>
              <a:cxnLst/>
              <a:rect r="r" b="b" t="t" l="l"/>
              <a:pathLst>
                <a:path h="180966" w="1680558">
                  <a:moveTo>
                    <a:pt x="82655" y="0"/>
                  </a:moveTo>
                  <a:lnTo>
                    <a:pt x="1597903" y="0"/>
                  </a:lnTo>
                  <a:cubicBezTo>
                    <a:pt x="1643552" y="0"/>
                    <a:pt x="1680558" y="37006"/>
                    <a:pt x="1680558" y="82655"/>
                  </a:cubicBezTo>
                  <a:lnTo>
                    <a:pt x="1680558" y="98311"/>
                  </a:lnTo>
                  <a:cubicBezTo>
                    <a:pt x="1680558" y="143960"/>
                    <a:pt x="1643552" y="180966"/>
                    <a:pt x="1597903" y="180966"/>
                  </a:cubicBezTo>
                  <a:lnTo>
                    <a:pt x="82655" y="180966"/>
                  </a:lnTo>
                  <a:cubicBezTo>
                    <a:pt x="60734" y="180966"/>
                    <a:pt x="39710" y="172258"/>
                    <a:pt x="24209" y="156757"/>
                  </a:cubicBezTo>
                  <a:cubicBezTo>
                    <a:pt x="8708" y="141256"/>
                    <a:pt x="0" y="120232"/>
                    <a:pt x="0" y="98311"/>
                  </a:cubicBezTo>
                  <a:lnTo>
                    <a:pt x="0" y="82655"/>
                  </a:lnTo>
                  <a:cubicBezTo>
                    <a:pt x="0" y="37006"/>
                    <a:pt x="37006" y="0"/>
                    <a:pt x="82655" y="0"/>
                  </a:cubicBezTo>
                  <a:close/>
                </a:path>
              </a:pathLst>
            </a:custGeom>
            <a:solidFill>
              <a:srgbClr val="20569B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80558" cy="238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73903" y="3033811"/>
            <a:ext cx="12387814" cy="97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5"/>
              </a:lnSpc>
            </a:pPr>
            <a:r>
              <a:rPr lang="en-US" b="true" sz="5432" spc="162">
                <a:solidFill>
                  <a:srgbClr val="111945"/>
                </a:solidFill>
                <a:latin typeface="Poppins Heavy"/>
                <a:ea typeface="Poppins Heavy"/>
                <a:cs typeface="Poppins Heavy"/>
                <a:sym typeface="Poppins Heavy"/>
              </a:rPr>
              <a:t>RESEARCH INFOGRAPHIC POSTER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5317" y="4063943"/>
            <a:ext cx="12095184" cy="67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3"/>
              </a:lnSpc>
            </a:pPr>
            <a:r>
              <a:rPr lang="en-US" b="true" sz="3695" spc="147">
                <a:solidFill>
                  <a:srgbClr val="2B2A29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Understanding Urban Lifestyle Patterns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84549" y="2020697"/>
            <a:ext cx="9366521" cy="591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4"/>
              </a:lnSpc>
            </a:pPr>
            <a:r>
              <a:rPr lang="en-US" b="true" sz="3295" spc="131">
                <a:solidFill>
                  <a:srgbClr val="F4F1E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Yael Amari   |   Rimberio University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81519" y="5792178"/>
            <a:ext cx="6160844" cy="3449712"/>
            <a:chOff x="0" y="0"/>
            <a:chExt cx="8214458" cy="459961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1301496"/>
              <a:ext cx="8214458" cy="3298120"/>
              <a:chOff x="0" y="0"/>
              <a:chExt cx="1103954" cy="44323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103954" cy="443239"/>
              </a:xfrm>
              <a:custGeom>
                <a:avLst/>
                <a:gdLst/>
                <a:ahLst/>
                <a:cxnLst/>
                <a:rect r="r" b="b" t="t" l="l"/>
                <a:pathLst>
                  <a:path h="443239" w="1103954">
                    <a:moveTo>
                      <a:pt x="31416" y="0"/>
                    </a:moveTo>
                    <a:lnTo>
                      <a:pt x="1072538" y="0"/>
                    </a:lnTo>
                    <a:cubicBezTo>
                      <a:pt x="1089888" y="0"/>
                      <a:pt x="1103954" y="14065"/>
                      <a:pt x="1103954" y="31416"/>
                    </a:cubicBezTo>
                    <a:lnTo>
                      <a:pt x="1103954" y="411824"/>
                    </a:lnTo>
                    <a:cubicBezTo>
                      <a:pt x="1103954" y="420156"/>
                      <a:pt x="1100644" y="428146"/>
                      <a:pt x="1094752" y="434038"/>
                    </a:cubicBezTo>
                    <a:cubicBezTo>
                      <a:pt x="1088861" y="439930"/>
                      <a:pt x="1080870" y="443239"/>
                      <a:pt x="1072538" y="443239"/>
                    </a:cubicBezTo>
                    <a:lnTo>
                      <a:pt x="31416" y="443239"/>
                    </a:lnTo>
                    <a:cubicBezTo>
                      <a:pt x="14065" y="443239"/>
                      <a:pt x="0" y="429174"/>
                      <a:pt x="0" y="411824"/>
                    </a:cubicBezTo>
                    <a:lnTo>
                      <a:pt x="0" y="31416"/>
                    </a:lnTo>
                    <a:cubicBezTo>
                      <a:pt x="0" y="14065"/>
                      <a:pt x="14065" y="0"/>
                      <a:pt x="31416" y="0"/>
                    </a:cubicBezTo>
                    <a:close/>
                  </a:path>
                </a:pathLst>
              </a:custGeom>
              <a:ln w="47625" cap="rnd">
                <a:solidFill>
                  <a:srgbClr val="20569B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1103954" cy="5003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56512" y="0"/>
              <a:ext cx="7957946" cy="920496"/>
              <a:chOff x="0" y="0"/>
              <a:chExt cx="1069481" cy="12370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069481" cy="123707"/>
              </a:xfrm>
              <a:custGeom>
                <a:avLst/>
                <a:gdLst/>
                <a:ahLst/>
                <a:cxnLst/>
                <a:rect r="r" b="b" t="t" l="l"/>
                <a:pathLst>
                  <a:path h="123707" w="1069481">
                    <a:moveTo>
                      <a:pt x="37617" y="0"/>
                    </a:moveTo>
                    <a:lnTo>
                      <a:pt x="1031864" y="0"/>
                    </a:lnTo>
                    <a:cubicBezTo>
                      <a:pt x="1041840" y="0"/>
                      <a:pt x="1051408" y="3963"/>
                      <a:pt x="1058463" y="11018"/>
                    </a:cubicBezTo>
                    <a:cubicBezTo>
                      <a:pt x="1065517" y="18072"/>
                      <a:pt x="1069481" y="27640"/>
                      <a:pt x="1069481" y="37617"/>
                    </a:cubicBezTo>
                    <a:lnTo>
                      <a:pt x="1069481" y="86090"/>
                    </a:lnTo>
                    <a:cubicBezTo>
                      <a:pt x="1069481" y="96066"/>
                      <a:pt x="1065517" y="105634"/>
                      <a:pt x="1058463" y="112689"/>
                    </a:cubicBezTo>
                    <a:cubicBezTo>
                      <a:pt x="1051408" y="119744"/>
                      <a:pt x="1041840" y="123707"/>
                      <a:pt x="1031864" y="123707"/>
                    </a:cubicBezTo>
                    <a:lnTo>
                      <a:pt x="37617" y="123707"/>
                    </a:lnTo>
                    <a:cubicBezTo>
                      <a:pt x="27640" y="123707"/>
                      <a:pt x="18072" y="119744"/>
                      <a:pt x="11018" y="112689"/>
                    </a:cubicBezTo>
                    <a:cubicBezTo>
                      <a:pt x="3963" y="105634"/>
                      <a:pt x="0" y="96066"/>
                      <a:pt x="0" y="86090"/>
                    </a:cubicBezTo>
                    <a:lnTo>
                      <a:pt x="0" y="37617"/>
                    </a:lnTo>
                    <a:cubicBezTo>
                      <a:pt x="0" y="27640"/>
                      <a:pt x="3963" y="18072"/>
                      <a:pt x="11018" y="11018"/>
                    </a:cubicBezTo>
                    <a:cubicBezTo>
                      <a:pt x="18072" y="3963"/>
                      <a:pt x="27640" y="0"/>
                      <a:pt x="37617" y="0"/>
                    </a:cubicBezTo>
                    <a:close/>
                  </a:path>
                </a:pathLst>
              </a:custGeom>
              <a:ln w="38100" cap="rnd">
                <a:solidFill>
                  <a:srgbClr val="20569B"/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1069481" cy="1808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0"/>
              <a:ext cx="920496" cy="920496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0569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108943" y="90254"/>
              <a:ext cx="6253085" cy="6637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059"/>
                </a:lnSpc>
              </a:pPr>
              <a:r>
                <a:rPr lang="en-US" b="true" sz="2899" spc="115">
                  <a:solidFill>
                    <a:srgbClr val="20569B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Research Overview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60248" y="1679321"/>
              <a:ext cx="7392918" cy="22205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400" spc="96">
                  <a:solidFill>
                    <a:srgbClr val="2B2A29"/>
                  </a:solidFill>
                  <a:latin typeface="Poppins"/>
                  <a:ea typeface="Poppins"/>
                  <a:cs typeface="Poppins"/>
                  <a:sym typeface="Poppins"/>
                </a:rPr>
                <a:t>This research examines how daily lifestyle choices affect productivity, health, and overall well being.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81519" y="10503762"/>
            <a:ext cx="6160844" cy="2473590"/>
            <a:chOff x="0" y="0"/>
            <a:chExt cx="1103954" cy="4432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03954" cy="443239"/>
            </a:xfrm>
            <a:custGeom>
              <a:avLst/>
              <a:gdLst/>
              <a:ahLst/>
              <a:cxnLst/>
              <a:rect r="r" b="b" t="t" l="l"/>
              <a:pathLst>
                <a:path h="443239" w="1103954">
                  <a:moveTo>
                    <a:pt x="31416" y="0"/>
                  </a:moveTo>
                  <a:lnTo>
                    <a:pt x="1072538" y="0"/>
                  </a:lnTo>
                  <a:cubicBezTo>
                    <a:pt x="1089888" y="0"/>
                    <a:pt x="1103954" y="14065"/>
                    <a:pt x="1103954" y="31416"/>
                  </a:cubicBezTo>
                  <a:lnTo>
                    <a:pt x="1103954" y="411824"/>
                  </a:lnTo>
                  <a:cubicBezTo>
                    <a:pt x="1103954" y="420156"/>
                    <a:pt x="1100644" y="428146"/>
                    <a:pt x="1094752" y="434038"/>
                  </a:cubicBezTo>
                  <a:cubicBezTo>
                    <a:pt x="1088861" y="439930"/>
                    <a:pt x="1080870" y="443239"/>
                    <a:pt x="1072538" y="443239"/>
                  </a:cubicBezTo>
                  <a:lnTo>
                    <a:pt x="31416" y="443239"/>
                  </a:lnTo>
                  <a:cubicBezTo>
                    <a:pt x="14065" y="443239"/>
                    <a:pt x="0" y="429174"/>
                    <a:pt x="0" y="411824"/>
                  </a:cubicBezTo>
                  <a:lnTo>
                    <a:pt x="0" y="31416"/>
                  </a:lnTo>
                  <a:cubicBezTo>
                    <a:pt x="0" y="14065"/>
                    <a:pt x="14065" y="0"/>
                    <a:pt x="31416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103954" cy="5003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3903" y="9527640"/>
            <a:ext cx="5968460" cy="690372"/>
            <a:chOff x="0" y="0"/>
            <a:chExt cx="1069481" cy="1237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9481" cy="123707"/>
            </a:xfrm>
            <a:custGeom>
              <a:avLst/>
              <a:gdLst/>
              <a:ahLst/>
              <a:cxnLst/>
              <a:rect r="r" b="b" t="t" l="l"/>
              <a:pathLst>
                <a:path h="123707" w="1069481">
                  <a:moveTo>
                    <a:pt x="37617" y="0"/>
                  </a:moveTo>
                  <a:lnTo>
                    <a:pt x="1031864" y="0"/>
                  </a:lnTo>
                  <a:cubicBezTo>
                    <a:pt x="1041840" y="0"/>
                    <a:pt x="1051408" y="3963"/>
                    <a:pt x="1058463" y="11018"/>
                  </a:cubicBezTo>
                  <a:cubicBezTo>
                    <a:pt x="1065517" y="18072"/>
                    <a:pt x="1069481" y="27640"/>
                    <a:pt x="1069481" y="37617"/>
                  </a:cubicBezTo>
                  <a:lnTo>
                    <a:pt x="1069481" y="86090"/>
                  </a:lnTo>
                  <a:cubicBezTo>
                    <a:pt x="1069481" y="96066"/>
                    <a:pt x="1065517" y="105634"/>
                    <a:pt x="1058463" y="112689"/>
                  </a:cubicBezTo>
                  <a:cubicBezTo>
                    <a:pt x="1051408" y="119744"/>
                    <a:pt x="1041840" y="123707"/>
                    <a:pt x="1031864" y="123707"/>
                  </a:cubicBezTo>
                  <a:lnTo>
                    <a:pt x="37617" y="123707"/>
                  </a:lnTo>
                  <a:cubicBezTo>
                    <a:pt x="27640" y="123707"/>
                    <a:pt x="18072" y="119744"/>
                    <a:pt x="11018" y="112689"/>
                  </a:cubicBezTo>
                  <a:cubicBezTo>
                    <a:pt x="3963" y="105634"/>
                    <a:pt x="0" y="96066"/>
                    <a:pt x="0" y="86090"/>
                  </a:cubicBezTo>
                  <a:lnTo>
                    <a:pt x="0" y="37617"/>
                  </a:lnTo>
                  <a:cubicBezTo>
                    <a:pt x="0" y="27640"/>
                    <a:pt x="3963" y="18072"/>
                    <a:pt x="11018" y="11018"/>
                  </a:cubicBezTo>
                  <a:cubicBezTo>
                    <a:pt x="18072" y="3963"/>
                    <a:pt x="27640" y="0"/>
                    <a:pt x="37617" y="0"/>
                  </a:cubicBezTo>
                  <a:close/>
                </a:path>
              </a:pathLst>
            </a:custGeom>
            <a:ln w="38100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069481" cy="18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1519" y="9527640"/>
            <a:ext cx="690372" cy="69037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69B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013226" y="9576281"/>
            <a:ext cx="468981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b="true" sz="2899" spc="115">
                <a:solidFill>
                  <a:srgbClr val="2056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Objective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26705" y="10770462"/>
            <a:ext cx="5544689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spc="96">
                <a:solidFill>
                  <a:srgbClr val="2B2A29"/>
                </a:solidFill>
                <a:latin typeface="Poppins"/>
                <a:ea typeface="Poppins"/>
                <a:cs typeface="Poppins"/>
                <a:sym typeface="Poppins"/>
              </a:rPr>
              <a:t>To analyze common lifestyle patterns and identify behaviors that support healthier, more balanced living outcomes.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81519" y="14239224"/>
            <a:ext cx="6160844" cy="5871484"/>
            <a:chOff x="0" y="0"/>
            <a:chExt cx="1103954" cy="10521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3954" cy="1052104"/>
            </a:xfrm>
            <a:custGeom>
              <a:avLst/>
              <a:gdLst/>
              <a:ahLst/>
              <a:cxnLst/>
              <a:rect r="r" b="b" t="t" l="l"/>
              <a:pathLst>
                <a:path h="1052104" w="1103954">
                  <a:moveTo>
                    <a:pt x="31416" y="0"/>
                  </a:moveTo>
                  <a:lnTo>
                    <a:pt x="1072538" y="0"/>
                  </a:lnTo>
                  <a:cubicBezTo>
                    <a:pt x="1089888" y="0"/>
                    <a:pt x="1103954" y="14065"/>
                    <a:pt x="1103954" y="31416"/>
                  </a:cubicBezTo>
                  <a:lnTo>
                    <a:pt x="1103954" y="1020688"/>
                  </a:lnTo>
                  <a:cubicBezTo>
                    <a:pt x="1103954" y="1038038"/>
                    <a:pt x="1089888" y="1052104"/>
                    <a:pt x="1072538" y="1052104"/>
                  </a:cubicBezTo>
                  <a:lnTo>
                    <a:pt x="31416" y="1052104"/>
                  </a:lnTo>
                  <a:cubicBezTo>
                    <a:pt x="14065" y="1052104"/>
                    <a:pt x="0" y="1038038"/>
                    <a:pt x="0" y="1020688"/>
                  </a:cubicBezTo>
                  <a:lnTo>
                    <a:pt x="0" y="31416"/>
                  </a:lnTo>
                  <a:cubicBezTo>
                    <a:pt x="0" y="14065"/>
                    <a:pt x="14065" y="0"/>
                    <a:pt x="31416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103954" cy="1109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73903" y="13263102"/>
            <a:ext cx="5968460" cy="690372"/>
            <a:chOff x="0" y="0"/>
            <a:chExt cx="1069481" cy="12370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9481" cy="123707"/>
            </a:xfrm>
            <a:custGeom>
              <a:avLst/>
              <a:gdLst/>
              <a:ahLst/>
              <a:cxnLst/>
              <a:rect r="r" b="b" t="t" l="l"/>
              <a:pathLst>
                <a:path h="123707" w="1069481">
                  <a:moveTo>
                    <a:pt x="37617" y="0"/>
                  </a:moveTo>
                  <a:lnTo>
                    <a:pt x="1031864" y="0"/>
                  </a:lnTo>
                  <a:cubicBezTo>
                    <a:pt x="1041840" y="0"/>
                    <a:pt x="1051408" y="3963"/>
                    <a:pt x="1058463" y="11018"/>
                  </a:cubicBezTo>
                  <a:cubicBezTo>
                    <a:pt x="1065517" y="18072"/>
                    <a:pt x="1069481" y="27640"/>
                    <a:pt x="1069481" y="37617"/>
                  </a:cubicBezTo>
                  <a:lnTo>
                    <a:pt x="1069481" y="86090"/>
                  </a:lnTo>
                  <a:cubicBezTo>
                    <a:pt x="1069481" y="96066"/>
                    <a:pt x="1065517" y="105634"/>
                    <a:pt x="1058463" y="112689"/>
                  </a:cubicBezTo>
                  <a:cubicBezTo>
                    <a:pt x="1051408" y="119744"/>
                    <a:pt x="1041840" y="123707"/>
                    <a:pt x="1031864" y="123707"/>
                  </a:cubicBezTo>
                  <a:lnTo>
                    <a:pt x="37617" y="123707"/>
                  </a:lnTo>
                  <a:cubicBezTo>
                    <a:pt x="27640" y="123707"/>
                    <a:pt x="18072" y="119744"/>
                    <a:pt x="11018" y="112689"/>
                  </a:cubicBezTo>
                  <a:cubicBezTo>
                    <a:pt x="3963" y="105634"/>
                    <a:pt x="0" y="96066"/>
                    <a:pt x="0" y="86090"/>
                  </a:cubicBezTo>
                  <a:lnTo>
                    <a:pt x="0" y="37617"/>
                  </a:lnTo>
                  <a:cubicBezTo>
                    <a:pt x="0" y="27640"/>
                    <a:pt x="3963" y="18072"/>
                    <a:pt x="11018" y="11018"/>
                  </a:cubicBezTo>
                  <a:cubicBezTo>
                    <a:pt x="18072" y="3963"/>
                    <a:pt x="27640" y="0"/>
                    <a:pt x="37617" y="0"/>
                  </a:cubicBezTo>
                  <a:close/>
                </a:path>
              </a:pathLst>
            </a:custGeom>
            <a:ln w="38100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1069481" cy="18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81519" y="13263102"/>
            <a:ext cx="690372" cy="690372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69B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013226" y="13311743"/>
            <a:ext cx="468981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b="true" sz="2899" spc="115">
                <a:solidFill>
                  <a:srgbClr val="2056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</a:t>
            </a:r>
            <a:r>
              <a:rPr lang="en-US" b="true" sz="2899" spc="115">
                <a:solidFill>
                  <a:srgbClr val="2056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 Highlight</a:t>
            </a:r>
          </a:p>
        </p:txBody>
      </p:sp>
      <p:pic>
        <p:nvPicPr>
          <p:cNvPr name="Picture 44" id="4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56061" y="14016660"/>
            <a:ext cx="6671273" cy="6227610"/>
          </a:xfrm>
          <a:prstGeom prst="rect">
            <a:avLst/>
          </a:prstGeom>
        </p:spPr>
      </p:pic>
      <p:grpSp>
        <p:nvGrpSpPr>
          <p:cNvPr name="Group 45" id="45"/>
          <p:cNvGrpSpPr/>
          <p:nvPr/>
        </p:nvGrpSpPr>
        <p:grpSpPr>
          <a:xfrm rot="0">
            <a:off x="7761062" y="6768300"/>
            <a:ext cx="6160844" cy="2394850"/>
            <a:chOff x="0" y="0"/>
            <a:chExt cx="1103954" cy="42913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03954" cy="429130"/>
            </a:xfrm>
            <a:custGeom>
              <a:avLst/>
              <a:gdLst/>
              <a:ahLst/>
              <a:cxnLst/>
              <a:rect r="r" b="b" t="t" l="l"/>
              <a:pathLst>
                <a:path h="429130" w="1103954">
                  <a:moveTo>
                    <a:pt x="31416" y="0"/>
                  </a:moveTo>
                  <a:lnTo>
                    <a:pt x="1072538" y="0"/>
                  </a:lnTo>
                  <a:cubicBezTo>
                    <a:pt x="1089888" y="0"/>
                    <a:pt x="1103954" y="14065"/>
                    <a:pt x="1103954" y="31416"/>
                  </a:cubicBezTo>
                  <a:lnTo>
                    <a:pt x="1103954" y="397714"/>
                  </a:lnTo>
                  <a:cubicBezTo>
                    <a:pt x="1103954" y="415065"/>
                    <a:pt x="1089888" y="429130"/>
                    <a:pt x="1072538" y="429130"/>
                  </a:cubicBezTo>
                  <a:lnTo>
                    <a:pt x="31416" y="429130"/>
                  </a:lnTo>
                  <a:cubicBezTo>
                    <a:pt x="23084" y="429130"/>
                    <a:pt x="15093" y="425820"/>
                    <a:pt x="9201" y="419929"/>
                  </a:cubicBezTo>
                  <a:cubicBezTo>
                    <a:pt x="3310" y="414037"/>
                    <a:pt x="0" y="406046"/>
                    <a:pt x="0" y="397714"/>
                  </a:cubicBezTo>
                  <a:lnTo>
                    <a:pt x="0" y="31416"/>
                  </a:lnTo>
                  <a:cubicBezTo>
                    <a:pt x="0" y="14065"/>
                    <a:pt x="14065" y="0"/>
                    <a:pt x="31416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1103954" cy="486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953446" y="5792178"/>
            <a:ext cx="5968460" cy="690372"/>
            <a:chOff x="0" y="0"/>
            <a:chExt cx="1069481" cy="12370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69481" cy="123707"/>
            </a:xfrm>
            <a:custGeom>
              <a:avLst/>
              <a:gdLst/>
              <a:ahLst/>
              <a:cxnLst/>
              <a:rect r="r" b="b" t="t" l="l"/>
              <a:pathLst>
                <a:path h="123707" w="1069481">
                  <a:moveTo>
                    <a:pt x="37617" y="0"/>
                  </a:moveTo>
                  <a:lnTo>
                    <a:pt x="1031864" y="0"/>
                  </a:lnTo>
                  <a:cubicBezTo>
                    <a:pt x="1041840" y="0"/>
                    <a:pt x="1051408" y="3963"/>
                    <a:pt x="1058463" y="11018"/>
                  </a:cubicBezTo>
                  <a:cubicBezTo>
                    <a:pt x="1065517" y="18072"/>
                    <a:pt x="1069481" y="27640"/>
                    <a:pt x="1069481" y="37617"/>
                  </a:cubicBezTo>
                  <a:lnTo>
                    <a:pt x="1069481" y="86090"/>
                  </a:lnTo>
                  <a:cubicBezTo>
                    <a:pt x="1069481" y="96066"/>
                    <a:pt x="1065517" y="105634"/>
                    <a:pt x="1058463" y="112689"/>
                  </a:cubicBezTo>
                  <a:cubicBezTo>
                    <a:pt x="1051408" y="119744"/>
                    <a:pt x="1041840" y="123707"/>
                    <a:pt x="1031864" y="123707"/>
                  </a:cubicBezTo>
                  <a:lnTo>
                    <a:pt x="37617" y="123707"/>
                  </a:lnTo>
                  <a:cubicBezTo>
                    <a:pt x="27640" y="123707"/>
                    <a:pt x="18072" y="119744"/>
                    <a:pt x="11018" y="112689"/>
                  </a:cubicBezTo>
                  <a:cubicBezTo>
                    <a:pt x="3963" y="105634"/>
                    <a:pt x="0" y="96066"/>
                    <a:pt x="0" y="86090"/>
                  </a:cubicBezTo>
                  <a:lnTo>
                    <a:pt x="0" y="37617"/>
                  </a:lnTo>
                  <a:cubicBezTo>
                    <a:pt x="0" y="27640"/>
                    <a:pt x="3963" y="18072"/>
                    <a:pt x="11018" y="11018"/>
                  </a:cubicBezTo>
                  <a:cubicBezTo>
                    <a:pt x="18072" y="3963"/>
                    <a:pt x="27640" y="0"/>
                    <a:pt x="37617" y="0"/>
                  </a:cubicBezTo>
                  <a:close/>
                </a:path>
              </a:pathLst>
            </a:custGeom>
            <a:ln w="38100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069481" cy="18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761062" y="5792178"/>
            <a:ext cx="690372" cy="690372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69B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8592769" y="5840819"/>
            <a:ext cx="468981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b="true" sz="2899" spc="115">
                <a:solidFill>
                  <a:srgbClr val="2056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</a:t>
            </a:r>
            <a:r>
              <a:rPr lang="en-US" b="true" sz="2899" spc="115">
                <a:solidFill>
                  <a:srgbClr val="2056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ethodology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049638" y="7035000"/>
            <a:ext cx="5544689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 spc="96">
                <a:solidFill>
                  <a:srgbClr val="2B2A29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2400" spc="96">
                <a:solidFill>
                  <a:srgbClr val="2B2A29"/>
                </a:solidFill>
                <a:latin typeface="Poppins"/>
                <a:ea typeface="Poppins"/>
                <a:cs typeface="Poppins"/>
                <a:sym typeface="Poppins"/>
              </a:rPr>
              <a:t>ata collection: Online survey</a:t>
            </a:r>
          </a:p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 spc="96">
                <a:solidFill>
                  <a:srgbClr val="2B2A29"/>
                </a:solidFill>
                <a:latin typeface="Poppins"/>
                <a:ea typeface="Poppins"/>
                <a:cs typeface="Poppins"/>
                <a:sym typeface="Poppins"/>
              </a:rPr>
              <a:t>Sample: 250 respondents</a:t>
            </a:r>
          </a:p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 spc="96">
                <a:solidFill>
                  <a:srgbClr val="2B2A29"/>
                </a:solidFill>
                <a:latin typeface="Poppins"/>
                <a:ea typeface="Poppins"/>
                <a:cs typeface="Poppins"/>
                <a:sym typeface="Poppins"/>
              </a:rPr>
              <a:t>Duration: 3 months</a:t>
            </a:r>
          </a:p>
          <a:p>
            <a:pPr algn="just" marL="518162" indent="-259081" lvl="1">
              <a:lnSpc>
                <a:spcPts val="3360"/>
              </a:lnSpc>
              <a:buFont typeface="Arial"/>
              <a:buChar char="•"/>
            </a:pPr>
            <a:r>
              <a:rPr lang="en-US" sz="2400" spc="96">
                <a:solidFill>
                  <a:srgbClr val="2B2A29"/>
                </a:solidFill>
                <a:latin typeface="Poppins"/>
                <a:ea typeface="Poppins"/>
                <a:cs typeface="Poppins"/>
                <a:sym typeface="Poppins"/>
              </a:rPr>
              <a:t>Age range: 18–35 years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7761062" y="10425022"/>
            <a:ext cx="6160844" cy="6362339"/>
            <a:chOff x="0" y="0"/>
            <a:chExt cx="1103954" cy="114005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03954" cy="1140059"/>
            </a:xfrm>
            <a:custGeom>
              <a:avLst/>
              <a:gdLst/>
              <a:ahLst/>
              <a:cxnLst/>
              <a:rect r="r" b="b" t="t" l="l"/>
              <a:pathLst>
                <a:path h="1140059" w="1103954">
                  <a:moveTo>
                    <a:pt x="31416" y="0"/>
                  </a:moveTo>
                  <a:lnTo>
                    <a:pt x="1072538" y="0"/>
                  </a:lnTo>
                  <a:cubicBezTo>
                    <a:pt x="1089888" y="0"/>
                    <a:pt x="1103954" y="14065"/>
                    <a:pt x="1103954" y="31416"/>
                  </a:cubicBezTo>
                  <a:lnTo>
                    <a:pt x="1103954" y="1108644"/>
                  </a:lnTo>
                  <a:cubicBezTo>
                    <a:pt x="1103954" y="1116976"/>
                    <a:pt x="1100644" y="1124966"/>
                    <a:pt x="1094752" y="1130858"/>
                  </a:cubicBezTo>
                  <a:cubicBezTo>
                    <a:pt x="1088861" y="1136750"/>
                    <a:pt x="1080870" y="1140059"/>
                    <a:pt x="1072538" y="1140059"/>
                  </a:cubicBezTo>
                  <a:lnTo>
                    <a:pt x="31416" y="1140059"/>
                  </a:lnTo>
                  <a:cubicBezTo>
                    <a:pt x="14065" y="1140059"/>
                    <a:pt x="0" y="1125994"/>
                    <a:pt x="0" y="1108644"/>
                  </a:cubicBezTo>
                  <a:lnTo>
                    <a:pt x="0" y="31416"/>
                  </a:lnTo>
                  <a:cubicBezTo>
                    <a:pt x="0" y="14065"/>
                    <a:pt x="14065" y="0"/>
                    <a:pt x="31416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1103954" cy="11972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953446" y="9448900"/>
            <a:ext cx="5968460" cy="690372"/>
            <a:chOff x="0" y="0"/>
            <a:chExt cx="1069481" cy="12370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9481" cy="123707"/>
            </a:xfrm>
            <a:custGeom>
              <a:avLst/>
              <a:gdLst/>
              <a:ahLst/>
              <a:cxnLst/>
              <a:rect r="r" b="b" t="t" l="l"/>
              <a:pathLst>
                <a:path h="123707" w="1069481">
                  <a:moveTo>
                    <a:pt x="37617" y="0"/>
                  </a:moveTo>
                  <a:lnTo>
                    <a:pt x="1031864" y="0"/>
                  </a:lnTo>
                  <a:cubicBezTo>
                    <a:pt x="1041840" y="0"/>
                    <a:pt x="1051408" y="3963"/>
                    <a:pt x="1058463" y="11018"/>
                  </a:cubicBezTo>
                  <a:cubicBezTo>
                    <a:pt x="1065517" y="18072"/>
                    <a:pt x="1069481" y="27640"/>
                    <a:pt x="1069481" y="37617"/>
                  </a:cubicBezTo>
                  <a:lnTo>
                    <a:pt x="1069481" y="86090"/>
                  </a:lnTo>
                  <a:cubicBezTo>
                    <a:pt x="1069481" y="96066"/>
                    <a:pt x="1065517" y="105634"/>
                    <a:pt x="1058463" y="112689"/>
                  </a:cubicBezTo>
                  <a:cubicBezTo>
                    <a:pt x="1051408" y="119744"/>
                    <a:pt x="1041840" y="123707"/>
                    <a:pt x="1031864" y="123707"/>
                  </a:cubicBezTo>
                  <a:lnTo>
                    <a:pt x="37617" y="123707"/>
                  </a:lnTo>
                  <a:cubicBezTo>
                    <a:pt x="27640" y="123707"/>
                    <a:pt x="18072" y="119744"/>
                    <a:pt x="11018" y="112689"/>
                  </a:cubicBezTo>
                  <a:cubicBezTo>
                    <a:pt x="3963" y="105634"/>
                    <a:pt x="0" y="96066"/>
                    <a:pt x="0" y="86090"/>
                  </a:cubicBezTo>
                  <a:lnTo>
                    <a:pt x="0" y="37617"/>
                  </a:lnTo>
                  <a:cubicBezTo>
                    <a:pt x="0" y="27640"/>
                    <a:pt x="3963" y="18072"/>
                    <a:pt x="11018" y="11018"/>
                  </a:cubicBezTo>
                  <a:cubicBezTo>
                    <a:pt x="18072" y="3963"/>
                    <a:pt x="27640" y="0"/>
                    <a:pt x="37617" y="0"/>
                  </a:cubicBezTo>
                  <a:close/>
                </a:path>
              </a:pathLst>
            </a:custGeom>
            <a:ln w="38100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069481" cy="18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761062" y="9448900"/>
            <a:ext cx="690372" cy="690372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69B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8592769" y="9497541"/>
            <a:ext cx="468981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b="true" sz="2899" spc="115">
                <a:solidFill>
                  <a:srgbClr val="2056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</a:t>
            </a:r>
            <a:r>
              <a:rPr lang="en-US" b="true" sz="2899" spc="115">
                <a:solidFill>
                  <a:srgbClr val="2056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ey Insights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7857254" y="18049233"/>
            <a:ext cx="6160844" cy="2061475"/>
            <a:chOff x="0" y="0"/>
            <a:chExt cx="1103954" cy="36939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03954" cy="369393"/>
            </a:xfrm>
            <a:custGeom>
              <a:avLst/>
              <a:gdLst/>
              <a:ahLst/>
              <a:cxnLst/>
              <a:rect r="r" b="b" t="t" l="l"/>
              <a:pathLst>
                <a:path h="369393" w="1103954">
                  <a:moveTo>
                    <a:pt x="31416" y="0"/>
                  </a:moveTo>
                  <a:lnTo>
                    <a:pt x="1072538" y="0"/>
                  </a:lnTo>
                  <a:cubicBezTo>
                    <a:pt x="1089888" y="0"/>
                    <a:pt x="1103954" y="14065"/>
                    <a:pt x="1103954" y="31416"/>
                  </a:cubicBezTo>
                  <a:lnTo>
                    <a:pt x="1103954" y="337977"/>
                  </a:lnTo>
                  <a:cubicBezTo>
                    <a:pt x="1103954" y="346309"/>
                    <a:pt x="1100644" y="354300"/>
                    <a:pt x="1094752" y="360192"/>
                  </a:cubicBezTo>
                  <a:cubicBezTo>
                    <a:pt x="1088861" y="366083"/>
                    <a:pt x="1080870" y="369393"/>
                    <a:pt x="1072538" y="369393"/>
                  </a:cubicBezTo>
                  <a:lnTo>
                    <a:pt x="31416" y="369393"/>
                  </a:lnTo>
                  <a:cubicBezTo>
                    <a:pt x="14065" y="369393"/>
                    <a:pt x="0" y="355328"/>
                    <a:pt x="0" y="337977"/>
                  </a:cubicBezTo>
                  <a:lnTo>
                    <a:pt x="0" y="31416"/>
                  </a:lnTo>
                  <a:cubicBezTo>
                    <a:pt x="0" y="14065"/>
                    <a:pt x="14065" y="0"/>
                    <a:pt x="31416" y="0"/>
                  </a:cubicBezTo>
                  <a:close/>
                </a:path>
              </a:pathLst>
            </a:custGeom>
            <a:ln w="47625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1103954" cy="426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049638" y="17073111"/>
            <a:ext cx="5968460" cy="690372"/>
            <a:chOff x="0" y="0"/>
            <a:chExt cx="1069481" cy="12370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69481" cy="123707"/>
            </a:xfrm>
            <a:custGeom>
              <a:avLst/>
              <a:gdLst/>
              <a:ahLst/>
              <a:cxnLst/>
              <a:rect r="r" b="b" t="t" l="l"/>
              <a:pathLst>
                <a:path h="123707" w="1069481">
                  <a:moveTo>
                    <a:pt x="37617" y="0"/>
                  </a:moveTo>
                  <a:lnTo>
                    <a:pt x="1031864" y="0"/>
                  </a:lnTo>
                  <a:cubicBezTo>
                    <a:pt x="1041840" y="0"/>
                    <a:pt x="1051408" y="3963"/>
                    <a:pt x="1058463" y="11018"/>
                  </a:cubicBezTo>
                  <a:cubicBezTo>
                    <a:pt x="1065517" y="18072"/>
                    <a:pt x="1069481" y="27640"/>
                    <a:pt x="1069481" y="37617"/>
                  </a:cubicBezTo>
                  <a:lnTo>
                    <a:pt x="1069481" y="86090"/>
                  </a:lnTo>
                  <a:cubicBezTo>
                    <a:pt x="1069481" y="96066"/>
                    <a:pt x="1065517" y="105634"/>
                    <a:pt x="1058463" y="112689"/>
                  </a:cubicBezTo>
                  <a:cubicBezTo>
                    <a:pt x="1051408" y="119744"/>
                    <a:pt x="1041840" y="123707"/>
                    <a:pt x="1031864" y="123707"/>
                  </a:cubicBezTo>
                  <a:lnTo>
                    <a:pt x="37617" y="123707"/>
                  </a:lnTo>
                  <a:cubicBezTo>
                    <a:pt x="27640" y="123707"/>
                    <a:pt x="18072" y="119744"/>
                    <a:pt x="11018" y="112689"/>
                  </a:cubicBezTo>
                  <a:cubicBezTo>
                    <a:pt x="3963" y="105634"/>
                    <a:pt x="0" y="96066"/>
                    <a:pt x="0" y="86090"/>
                  </a:cubicBezTo>
                  <a:lnTo>
                    <a:pt x="0" y="37617"/>
                  </a:lnTo>
                  <a:cubicBezTo>
                    <a:pt x="0" y="27640"/>
                    <a:pt x="3963" y="18072"/>
                    <a:pt x="11018" y="11018"/>
                  </a:cubicBezTo>
                  <a:cubicBezTo>
                    <a:pt x="18072" y="3963"/>
                    <a:pt x="27640" y="0"/>
                    <a:pt x="37617" y="0"/>
                  </a:cubicBezTo>
                  <a:close/>
                </a:path>
              </a:pathLst>
            </a:custGeom>
            <a:ln w="38100" cap="rnd">
              <a:solidFill>
                <a:srgbClr val="20569B"/>
              </a:solidFill>
              <a:prstDash val="solid"/>
              <a:round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1069481" cy="18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857254" y="17073111"/>
            <a:ext cx="690372" cy="690372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569B"/>
            </a:solidFill>
            <a:ln cap="sq">
              <a:noFill/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8688961" y="17121752"/>
            <a:ext cx="468981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b="true" sz="2899" spc="115">
                <a:solidFill>
                  <a:srgbClr val="2056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</a:t>
            </a:r>
            <a:r>
              <a:rPr lang="en-US" b="true" sz="2899" spc="115">
                <a:solidFill>
                  <a:srgbClr val="20569B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onclusion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8202440" y="18425315"/>
            <a:ext cx="5457145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spc="96">
                <a:solidFill>
                  <a:srgbClr val="2B2A29"/>
                </a:solidFill>
                <a:latin typeface="Poppins"/>
                <a:ea typeface="Poppins"/>
                <a:cs typeface="Poppins"/>
                <a:sym typeface="Poppins"/>
              </a:rPr>
              <a:t>Sm</a:t>
            </a:r>
            <a:r>
              <a:rPr lang="en-US" sz="2400" spc="96">
                <a:solidFill>
                  <a:srgbClr val="2B2A29"/>
                </a:solidFill>
                <a:latin typeface="Poppins"/>
                <a:ea typeface="Poppins"/>
                <a:cs typeface="Poppins"/>
                <a:sym typeface="Poppins"/>
              </a:rPr>
              <a:t>all lifestyle changes can measurably improve productivity and quality of life.</a:t>
            </a:r>
          </a:p>
        </p:txBody>
      </p:sp>
      <p:pic>
        <p:nvPicPr>
          <p:cNvPr name="Picture 77" id="7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556162" y="10853648"/>
            <a:ext cx="6601036" cy="1704893"/>
          </a:xfrm>
          <a:prstGeom prst="rect">
            <a:avLst/>
          </a:prstGeom>
        </p:spPr>
      </p:pic>
      <p:grpSp>
        <p:nvGrpSpPr>
          <p:cNvPr name="Group 78" id="78"/>
          <p:cNvGrpSpPr/>
          <p:nvPr/>
        </p:nvGrpSpPr>
        <p:grpSpPr>
          <a:xfrm rot="0">
            <a:off x="8106248" y="10837137"/>
            <a:ext cx="3221757" cy="358140"/>
            <a:chOff x="0" y="0"/>
            <a:chExt cx="4295676" cy="477520"/>
          </a:xfrm>
        </p:grpSpPr>
        <p:sp>
          <p:nvSpPr>
            <p:cNvPr name="TextBox 79" id="79"/>
            <p:cNvSpPr txBox="true"/>
            <p:nvPr/>
          </p:nvSpPr>
          <p:spPr>
            <a:xfrm rot="0">
              <a:off x="648695" y="-66675"/>
              <a:ext cx="3646981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400" spc="96">
                  <a:solidFill>
                    <a:srgbClr val="2B2A29"/>
                  </a:solidFill>
                  <a:latin typeface="Poppins"/>
                  <a:ea typeface="Poppins"/>
                  <a:cs typeface="Poppins"/>
                  <a:sym typeface="Poppins"/>
                </a:rPr>
                <a:t>F</a:t>
              </a:r>
              <a:r>
                <a:rPr lang="en-US" sz="2400" spc="96">
                  <a:solidFill>
                    <a:srgbClr val="2B2A29"/>
                  </a:solidFill>
                  <a:latin typeface="Poppins"/>
                  <a:ea typeface="Poppins"/>
                  <a:cs typeface="Poppins"/>
                  <a:sym typeface="Poppins"/>
                </a:rPr>
                <a:t>ocus Level</a:t>
              </a:r>
            </a:p>
          </p:txBody>
        </p:sp>
        <p:grpSp>
          <p:nvGrpSpPr>
            <p:cNvPr name="Group 80" id="80"/>
            <p:cNvGrpSpPr/>
            <p:nvPr/>
          </p:nvGrpSpPr>
          <p:grpSpPr>
            <a:xfrm rot="0">
              <a:off x="0" y="29167"/>
              <a:ext cx="448353" cy="448353"/>
              <a:chOff x="0" y="0"/>
              <a:chExt cx="812800" cy="812800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0569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55229" y="12322590"/>
            <a:ext cx="6612229" cy="1704326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 rot="0">
            <a:off x="8106248" y="12307012"/>
            <a:ext cx="3221757" cy="358140"/>
            <a:chOff x="0" y="0"/>
            <a:chExt cx="4295676" cy="477520"/>
          </a:xfrm>
        </p:grpSpPr>
        <p:sp>
          <p:nvSpPr>
            <p:cNvPr name="TextBox 85" id="85"/>
            <p:cNvSpPr txBox="true"/>
            <p:nvPr/>
          </p:nvSpPr>
          <p:spPr>
            <a:xfrm rot="0">
              <a:off x="648695" y="-66675"/>
              <a:ext cx="3646981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400" spc="96">
                  <a:solidFill>
                    <a:srgbClr val="2B2A29"/>
                  </a:solidFill>
                  <a:latin typeface="Poppins"/>
                  <a:ea typeface="Poppins"/>
                  <a:cs typeface="Poppins"/>
                  <a:sym typeface="Poppins"/>
                </a:rPr>
                <a:t>Pr</a:t>
              </a:r>
              <a:r>
                <a:rPr lang="en-US" sz="2400" spc="96">
                  <a:solidFill>
                    <a:srgbClr val="2B2A29"/>
                  </a:solidFill>
                  <a:latin typeface="Poppins"/>
                  <a:ea typeface="Poppins"/>
                  <a:cs typeface="Poppins"/>
                  <a:sym typeface="Poppins"/>
                </a:rPr>
                <a:t>oductivity</a:t>
              </a:r>
            </a:p>
          </p:txBody>
        </p:sp>
        <p:grpSp>
          <p:nvGrpSpPr>
            <p:cNvPr name="Group 86" id="86"/>
            <p:cNvGrpSpPr/>
            <p:nvPr/>
          </p:nvGrpSpPr>
          <p:grpSpPr>
            <a:xfrm rot="0">
              <a:off x="0" y="29167"/>
              <a:ext cx="448353" cy="448353"/>
              <a:chOff x="0" y="0"/>
              <a:chExt cx="812800" cy="812800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0569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8" id="8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556193" y="13793429"/>
            <a:ext cx="6600658" cy="1703318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 rot="0">
            <a:off x="8106248" y="13776887"/>
            <a:ext cx="3221757" cy="358140"/>
            <a:chOff x="0" y="0"/>
            <a:chExt cx="4295676" cy="477520"/>
          </a:xfrm>
        </p:grpSpPr>
        <p:sp>
          <p:nvSpPr>
            <p:cNvPr name="TextBox 91" id="91"/>
            <p:cNvSpPr txBox="true"/>
            <p:nvPr/>
          </p:nvSpPr>
          <p:spPr>
            <a:xfrm rot="0">
              <a:off x="648695" y="-66675"/>
              <a:ext cx="3646981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400" spc="96">
                  <a:solidFill>
                    <a:srgbClr val="2B2A29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2400" spc="96">
                  <a:solidFill>
                    <a:srgbClr val="2B2A29"/>
                  </a:solidFill>
                  <a:latin typeface="Poppins"/>
                  <a:ea typeface="Poppins"/>
                  <a:cs typeface="Poppins"/>
                  <a:sym typeface="Poppins"/>
                </a:rPr>
                <a:t>creen Balance </a:t>
              </a:r>
            </a:p>
          </p:txBody>
        </p:sp>
        <p:grpSp>
          <p:nvGrpSpPr>
            <p:cNvPr name="Group 92" id="92"/>
            <p:cNvGrpSpPr/>
            <p:nvPr/>
          </p:nvGrpSpPr>
          <p:grpSpPr>
            <a:xfrm rot="0">
              <a:off x="0" y="29167"/>
              <a:ext cx="448353" cy="448353"/>
              <a:chOff x="0" y="0"/>
              <a:chExt cx="812800" cy="81280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0569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557452" y="15264563"/>
            <a:ext cx="6585557" cy="1702313"/>
          </a:xfrm>
          <a:prstGeom prst="rect">
            <a:avLst/>
          </a:prstGeom>
        </p:spPr>
      </p:pic>
      <p:grpSp>
        <p:nvGrpSpPr>
          <p:cNvPr name="Group 96" id="96"/>
          <p:cNvGrpSpPr/>
          <p:nvPr/>
        </p:nvGrpSpPr>
        <p:grpSpPr>
          <a:xfrm rot="0">
            <a:off x="8106248" y="15246762"/>
            <a:ext cx="3221757" cy="358140"/>
            <a:chOff x="0" y="0"/>
            <a:chExt cx="4295676" cy="477520"/>
          </a:xfrm>
        </p:grpSpPr>
        <p:sp>
          <p:nvSpPr>
            <p:cNvPr name="TextBox 97" id="97"/>
            <p:cNvSpPr txBox="true"/>
            <p:nvPr/>
          </p:nvSpPr>
          <p:spPr>
            <a:xfrm rot="0">
              <a:off x="648695" y="-66675"/>
              <a:ext cx="3646981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60"/>
                </a:lnSpc>
              </a:pPr>
              <a:r>
                <a:rPr lang="en-US" sz="2400" spc="96">
                  <a:solidFill>
                    <a:srgbClr val="2B2A29"/>
                  </a:solidFill>
                  <a:latin typeface="Poppins"/>
                  <a:ea typeface="Poppins"/>
                  <a:cs typeface="Poppins"/>
                  <a:sym typeface="Poppins"/>
                </a:rPr>
                <a:t>W</a:t>
              </a:r>
              <a:r>
                <a:rPr lang="en-US" sz="2400" spc="96">
                  <a:solidFill>
                    <a:srgbClr val="2B2A29"/>
                  </a:solidFill>
                  <a:latin typeface="Poppins"/>
                  <a:ea typeface="Poppins"/>
                  <a:cs typeface="Poppins"/>
                  <a:sym typeface="Poppins"/>
                </a:rPr>
                <a:t>ell being</a:t>
              </a:r>
            </a:p>
          </p:txBody>
        </p:sp>
        <p:grpSp>
          <p:nvGrpSpPr>
            <p:cNvPr name="Group 98" id="98"/>
            <p:cNvGrpSpPr/>
            <p:nvPr/>
          </p:nvGrpSpPr>
          <p:grpSpPr>
            <a:xfrm rot="0">
              <a:off x="0" y="29167"/>
              <a:ext cx="448353" cy="448353"/>
              <a:chOff x="0" y="0"/>
              <a:chExt cx="812800" cy="812800"/>
            </a:xfrm>
          </p:grpSpPr>
          <p:sp>
            <p:nvSpPr>
              <p:cNvPr name="Freeform 99" id="9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0569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0" id="10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20"/>
                  </a:lnSpc>
                </a:p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DAHKuSlDBeQ</dc:identifier>
  <dcterms:modified xsi:type="dcterms:W3CDTF">2011-08-01T06:04:30Z</dcterms:modified>
  <cp:revision>1</cp:revision>
  <dc:title>Blue and White Modern Research Infographic Poster</dc:title>
</cp:coreProperties>
</file>