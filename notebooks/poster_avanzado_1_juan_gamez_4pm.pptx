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2397700" cy="43192700"/>
  <p:notesSz cx="6858000" cy="9144000"/>
  <p:embeddedFontLst>
    <p:embeddedFont>
      <p:font typeface="Open Sans Bold" charset="1" panose="020B0806030504020204"/>
      <p:regular r:id="rId7"/>
    </p:embeddedFont>
    <p:embeddedFont>
      <p:font typeface="Montserrat Bold Italics" charset="1" panose="00000800000000000000"/>
      <p:regular r:id="rId8"/>
    </p:embeddedFont>
    <p:embeddedFont>
      <p:font typeface="Montserrat Bold" charset="1" panose="00000800000000000000"/>
      <p:regular r:id="rId9"/>
    </p:embeddedFont>
    <p:embeddedFont>
      <p:font typeface="Montserrat" charset="1" panose="00000500000000000000"/>
      <p:regular r:id="rId10"/>
    </p:embeddedFont>
    <p:embeddedFont>
      <p:font typeface="Open Sans" charset="1" panose="020B0606030504020204"/>
      <p:regular r:id="rId11"/>
    </p:embeddedFont>
    <p:embeddedFont>
      <p:font typeface="Open Sans Italics" charset="1" panose="020B06060305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C9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5609" y="354721"/>
            <a:ext cx="21998946" cy="5257414"/>
            <a:chOff x="0" y="0"/>
            <a:chExt cx="1951072" cy="4662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1073" cy="466277"/>
            </a:xfrm>
            <a:custGeom>
              <a:avLst/>
              <a:gdLst/>
              <a:ahLst/>
              <a:cxnLst/>
              <a:rect r="r" b="b" t="t" l="l"/>
              <a:pathLst>
                <a:path h="466277" w="1951073">
                  <a:moveTo>
                    <a:pt x="0" y="0"/>
                  </a:moveTo>
                  <a:lnTo>
                    <a:pt x="1951073" y="0"/>
                  </a:lnTo>
                  <a:lnTo>
                    <a:pt x="1951073" y="466277"/>
                  </a:lnTo>
                  <a:lnTo>
                    <a:pt x="0" y="466277"/>
                  </a:lnTo>
                  <a:close/>
                </a:path>
              </a:pathLst>
            </a:custGeom>
            <a:solidFill>
              <a:srgbClr val="80766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51072" cy="580577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5609" y="5740010"/>
            <a:ext cx="21998946" cy="2154357"/>
            <a:chOff x="0" y="0"/>
            <a:chExt cx="1951072" cy="1910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1073" cy="191069"/>
            </a:xfrm>
            <a:custGeom>
              <a:avLst/>
              <a:gdLst/>
              <a:ahLst/>
              <a:cxnLst/>
              <a:rect r="r" b="b" t="t" l="l"/>
              <a:pathLst>
                <a:path h="191069" w="1951073">
                  <a:moveTo>
                    <a:pt x="0" y="0"/>
                  </a:moveTo>
                  <a:lnTo>
                    <a:pt x="1951073" y="0"/>
                  </a:lnTo>
                  <a:lnTo>
                    <a:pt x="1951073" y="191069"/>
                  </a:lnTo>
                  <a:lnTo>
                    <a:pt x="0" y="191069"/>
                  </a:lnTo>
                  <a:close/>
                </a:path>
              </a:pathLst>
            </a:custGeom>
            <a:solidFill>
              <a:srgbClr val="403D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951072" cy="305369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5609" y="8477972"/>
            <a:ext cx="12836016" cy="3170998"/>
            <a:chOff x="0" y="0"/>
            <a:chExt cx="1138418" cy="2812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8418" cy="281234"/>
            </a:xfrm>
            <a:custGeom>
              <a:avLst/>
              <a:gdLst/>
              <a:ahLst/>
              <a:cxnLst/>
              <a:rect r="r" b="b" t="t" l="l"/>
              <a:pathLst>
                <a:path h="281234" w="1138418">
                  <a:moveTo>
                    <a:pt x="0" y="0"/>
                  </a:moveTo>
                  <a:lnTo>
                    <a:pt x="1138418" y="0"/>
                  </a:lnTo>
                  <a:lnTo>
                    <a:pt x="1138418" y="281234"/>
                  </a:lnTo>
                  <a:lnTo>
                    <a:pt x="0" y="28123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138418" cy="395534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5609" y="8103917"/>
            <a:ext cx="12836016" cy="849933"/>
            <a:chOff x="0" y="0"/>
            <a:chExt cx="1138418" cy="75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8418" cy="75380"/>
            </a:xfrm>
            <a:custGeom>
              <a:avLst/>
              <a:gdLst/>
              <a:ahLst/>
              <a:cxnLst/>
              <a:rect r="r" b="b" t="t" l="l"/>
              <a:pathLst>
                <a:path h="75380" w="1138418">
                  <a:moveTo>
                    <a:pt x="0" y="0"/>
                  </a:moveTo>
                  <a:lnTo>
                    <a:pt x="1138418" y="0"/>
                  </a:lnTo>
                  <a:lnTo>
                    <a:pt x="1138418" y="75380"/>
                  </a:lnTo>
                  <a:lnTo>
                    <a:pt x="0" y="75380"/>
                  </a:ln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138418" cy="189680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042984" y="18052173"/>
            <a:ext cx="6886349" cy="1797734"/>
            <a:chOff x="0" y="0"/>
            <a:chExt cx="655282" cy="1710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5282" cy="171066"/>
            </a:xfrm>
            <a:custGeom>
              <a:avLst/>
              <a:gdLst/>
              <a:ahLst/>
              <a:cxnLst/>
              <a:rect r="r" b="b" t="t" l="l"/>
              <a:pathLst>
                <a:path h="171066" w="655282">
                  <a:moveTo>
                    <a:pt x="0" y="0"/>
                  </a:moveTo>
                  <a:lnTo>
                    <a:pt x="655282" y="0"/>
                  </a:lnTo>
                  <a:lnTo>
                    <a:pt x="655282" y="171066"/>
                  </a:lnTo>
                  <a:lnTo>
                    <a:pt x="0" y="171066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655282" cy="28536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533748" y="17946381"/>
            <a:ext cx="11389342" cy="8445318"/>
            <a:chOff x="0" y="0"/>
            <a:chExt cx="970701" cy="7197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0701" cy="719785"/>
            </a:xfrm>
            <a:custGeom>
              <a:avLst/>
              <a:gdLst/>
              <a:ahLst/>
              <a:cxnLst/>
              <a:rect r="r" b="b" t="t" l="l"/>
              <a:pathLst>
                <a:path h="719785" w="970701">
                  <a:moveTo>
                    <a:pt x="0" y="0"/>
                  </a:moveTo>
                  <a:lnTo>
                    <a:pt x="970701" y="0"/>
                  </a:lnTo>
                  <a:lnTo>
                    <a:pt x="970701" y="719785"/>
                  </a:lnTo>
                  <a:lnTo>
                    <a:pt x="0" y="719785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970701" cy="834085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5609" y="18906765"/>
            <a:ext cx="12803024" cy="5256946"/>
            <a:chOff x="0" y="0"/>
            <a:chExt cx="744138" cy="3055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4138" cy="305544"/>
            </a:xfrm>
            <a:custGeom>
              <a:avLst/>
              <a:gdLst/>
              <a:ahLst/>
              <a:cxnLst/>
              <a:rect r="r" b="b" t="t" l="l"/>
              <a:pathLst>
                <a:path h="305544" w="744138">
                  <a:moveTo>
                    <a:pt x="0" y="0"/>
                  </a:moveTo>
                  <a:lnTo>
                    <a:pt x="744138" y="0"/>
                  </a:lnTo>
                  <a:lnTo>
                    <a:pt x="744138" y="305544"/>
                  </a:lnTo>
                  <a:lnTo>
                    <a:pt x="0" y="30554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744138" cy="419844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5609" y="12219862"/>
            <a:ext cx="12836016" cy="5804917"/>
            <a:chOff x="0" y="0"/>
            <a:chExt cx="1138418" cy="5148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8418" cy="514834"/>
            </a:xfrm>
            <a:custGeom>
              <a:avLst/>
              <a:gdLst/>
              <a:ahLst/>
              <a:cxnLst/>
              <a:rect r="r" b="b" t="t" l="l"/>
              <a:pathLst>
                <a:path h="514834" w="1138418">
                  <a:moveTo>
                    <a:pt x="0" y="0"/>
                  </a:moveTo>
                  <a:lnTo>
                    <a:pt x="1138418" y="0"/>
                  </a:lnTo>
                  <a:lnTo>
                    <a:pt x="1138418" y="514834"/>
                  </a:lnTo>
                  <a:lnTo>
                    <a:pt x="0" y="51483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1138418" cy="629134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474501" y="13764704"/>
            <a:ext cx="18466379" cy="3943552"/>
            <a:chOff x="0" y="0"/>
            <a:chExt cx="1637771" cy="3497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37771" cy="349751"/>
            </a:xfrm>
            <a:custGeom>
              <a:avLst/>
              <a:gdLst/>
              <a:ahLst/>
              <a:cxnLst/>
              <a:rect r="r" b="b" t="t" l="l"/>
              <a:pathLst>
                <a:path h="349751" w="1637771">
                  <a:moveTo>
                    <a:pt x="0" y="0"/>
                  </a:moveTo>
                  <a:lnTo>
                    <a:pt x="1637771" y="0"/>
                  </a:lnTo>
                  <a:lnTo>
                    <a:pt x="1637771" y="349751"/>
                  </a:lnTo>
                  <a:lnTo>
                    <a:pt x="0" y="349751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14300"/>
              <a:ext cx="1637771" cy="464051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74501" y="13693947"/>
            <a:ext cx="18466379" cy="754038"/>
            <a:chOff x="0" y="0"/>
            <a:chExt cx="1637771" cy="668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37771" cy="66875"/>
            </a:xfrm>
            <a:custGeom>
              <a:avLst/>
              <a:gdLst/>
              <a:ahLst/>
              <a:cxnLst/>
              <a:rect r="r" b="b" t="t" l="l"/>
              <a:pathLst>
                <a:path h="66875" w="1637771">
                  <a:moveTo>
                    <a:pt x="0" y="0"/>
                  </a:moveTo>
                  <a:lnTo>
                    <a:pt x="1637771" y="0"/>
                  </a:lnTo>
                  <a:lnTo>
                    <a:pt x="1637771" y="66875"/>
                  </a:lnTo>
                  <a:lnTo>
                    <a:pt x="0" y="66875"/>
                  </a:ln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1637771" cy="181175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406638" y="34968044"/>
            <a:ext cx="9272636" cy="8045324"/>
            <a:chOff x="0" y="0"/>
            <a:chExt cx="822384" cy="7135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384" cy="713535"/>
            </a:xfrm>
            <a:custGeom>
              <a:avLst/>
              <a:gdLst/>
              <a:ahLst/>
              <a:cxnLst/>
              <a:rect r="r" b="b" t="t" l="l"/>
              <a:pathLst>
                <a:path h="713535" w="822384">
                  <a:moveTo>
                    <a:pt x="0" y="0"/>
                  </a:moveTo>
                  <a:lnTo>
                    <a:pt x="822384" y="0"/>
                  </a:lnTo>
                  <a:lnTo>
                    <a:pt x="822384" y="713535"/>
                  </a:lnTo>
                  <a:lnTo>
                    <a:pt x="0" y="713535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14300"/>
              <a:ext cx="822384" cy="827835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7376241" y="4456482"/>
            <a:ext cx="4616352" cy="2560227"/>
          </a:xfrm>
          <a:custGeom>
            <a:avLst/>
            <a:gdLst/>
            <a:ahLst/>
            <a:cxnLst/>
            <a:rect r="r" b="b" t="t" l="l"/>
            <a:pathLst>
              <a:path h="2560227" w="4616352">
                <a:moveTo>
                  <a:pt x="0" y="0"/>
                </a:moveTo>
                <a:lnTo>
                  <a:pt x="4616353" y="0"/>
                </a:lnTo>
                <a:lnTo>
                  <a:pt x="4616353" y="2560227"/>
                </a:lnTo>
                <a:lnTo>
                  <a:pt x="0" y="256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13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2105700" y="4623383"/>
            <a:ext cx="5483616" cy="2574302"/>
          </a:xfrm>
          <a:custGeom>
            <a:avLst/>
            <a:gdLst/>
            <a:ahLst/>
            <a:cxnLst/>
            <a:rect r="r" b="b" t="t" l="l"/>
            <a:pathLst>
              <a:path h="2574302" w="5483616">
                <a:moveTo>
                  <a:pt x="0" y="0"/>
                </a:moveTo>
                <a:lnTo>
                  <a:pt x="5483616" y="0"/>
                </a:lnTo>
                <a:lnTo>
                  <a:pt x="5483616" y="2574301"/>
                </a:lnTo>
                <a:lnTo>
                  <a:pt x="0" y="2574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5" b="-42074"/>
            </a:stretch>
          </a:blipFill>
        </p:spPr>
      </p:sp>
      <p:sp>
        <p:nvSpPr>
          <p:cNvPr name="AutoShape 37" id="37"/>
          <p:cNvSpPr/>
          <p:nvPr/>
        </p:nvSpPr>
        <p:spPr>
          <a:xfrm>
            <a:off x="27129294" y="4571310"/>
            <a:ext cx="0" cy="2572584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395609" y="25608155"/>
            <a:ext cx="12803024" cy="4784709"/>
            <a:chOff x="0" y="0"/>
            <a:chExt cx="1135492" cy="42435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5492" cy="424353"/>
            </a:xfrm>
            <a:custGeom>
              <a:avLst/>
              <a:gdLst/>
              <a:ahLst/>
              <a:cxnLst/>
              <a:rect r="r" b="b" t="t" l="l"/>
              <a:pathLst>
                <a:path h="424353" w="1135492">
                  <a:moveTo>
                    <a:pt x="0" y="0"/>
                  </a:moveTo>
                  <a:lnTo>
                    <a:pt x="1135492" y="0"/>
                  </a:lnTo>
                  <a:lnTo>
                    <a:pt x="1135492" y="424353"/>
                  </a:lnTo>
                  <a:lnTo>
                    <a:pt x="0" y="424353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1135492" cy="538653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95609" y="12219862"/>
            <a:ext cx="12817930" cy="822597"/>
            <a:chOff x="0" y="0"/>
            <a:chExt cx="1136814" cy="729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6814" cy="72956"/>
            </a:xfrm>
            <a:custGeom>
              <a:avLst/>
              <a:gdLst/>
              <a:ahLst/>
              <a:cxnLst/>
              <a:rect r="r" b="b" t="t" l="l"/>
              <a:pathLst>
                <a:path h="72956" w="1136814">
                  <a:moveTo>
                    <a:pt x="0" y="0"/>
                  </a:moveTo>
                  <a:lnTo>
                    <a:pt x="1136814" y="0"/>
                  </a:lnTo>
                  <a:lnTo>
                    <a:pt x="1136814" y="72956"/>
                  </a:lnTo>
                  <a:lnTo>
                    <a:pt x="0" y="72956"/>
                  </a:ln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14300"/>
              <a:ext cx="1136814" cy="18725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6628944" y="19205137"/>
            <a:ext cx="6360410" cy="4671695"/>
          </a:xfrm>
          <a:custGeom>
            <a:avLst/>
            <a:gdLst/>
            <a:ahLst/>
            <a:cxnLst/>
            <a:rect r="r" b="b" t="t" l="l"/>
            <a:pathLst>
              <a:path h="4671695" w="6360410">
                <a:moveTo>
                  <a:pt x="0" y="0"/>
                </a:moveTo>
                <a:lnTo>
                  <a:pt x="6360409" y="0"/>
                </a:lnTo>
                <a:lnTo>
                  <a:pt x="6360409" y="4671695"/>
                </a:lnTo>
                <a:lnTo>
                  <a:pt x="0" y="4671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80" t="-3354" r="0" b="-79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94327" y="19194567"/>
            <a:ext cx="6223296" cy="4722639"/>
          </a:xfrm>
          <a:custGeom>
            <a:avLst/>
            <a:gdLst/>
            <a:ahLst/>
            <a:cxnLst/>
            <a:rect r="r" b="b" t="t" l="l"/>
            <a:pathLst>
              <a:path h="4722639" w="6223296">
                <a:moveTo>
                  <a:pt x="0" y="0"/>
                </a:moveTo>
                <a:lnTo>
                  <a:pt x="6223296" y="0"/>
                </a:lnTo>
                <a:lnTo>
                  <a:pt x="6223296" y="4722638"/>
                </a:lnTo>
                <a:lnTo>
                  <a:pt x="0" y="472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59" r="-2225" b="-32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3293349" y="15538009"/>
            <a:ext cx="6535131" cy="7920852"/>
          </a:xfrm>
          <a:custGeom>
            <a:avLst/>
            <a:gdLst/>
            <a:ahLst/>
            <a:cxnLst/>
            <a:rect r="r" b="b" t="t" l="l"/>
            <a:pathLst>
              <a:path h="7920852" w="6535131">
                <a:moveTo>
                  <a:pt x="0" y="0"/>
                </a:moveTo>
                <a:lnTo>
                  <a:pt x="6535130" y="0"/>
                </a:lnTo>
                <a:lnTo>
                  <a:pt x="6535130" y="7920852"/>
                </a:lnTo>
                <a:lnTo>
                  <a:pt x="0" y="7920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395609" y="24979505"/>
            <a:ext cx="12803024" cy="922605"/>
            <a:chOff x="0" y="0"/>
            <a:chExt cx="1135492" cy="818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35492" cy="81825"/>
            </a:xfrm>
            <a:custGeom>
              <a:avLst/>
              <a:gdLst/>
              <a:ahLst/>
              <a:cxnLst/>
              <a:rect r="r" b="b" t="t" l="l"/>
              <a:pathLst>
                <a:path h="81825" w="1135492">
                  <a:moveTo>
                    <a:pt x="0" y="0"/>
                  </a:moveTo>
                  <a:lnTo>
                    <a:pt x="1135492" y="0"/>
                  </a:lnTo>
                  <a:lnTo>
                    <a:pt x="1135492" y="81825"/>
                  </a:lnTo>
                  <a:lnTo>
                    <a:pt x="0" y="81825"/>
                  </a:ln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1135492" cy="196125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0" id="50"/>
          <p:cNvSpPr/>
          <p:nvPr/>
        </p:nvSpPr>
        <p:spPr>
          <a:xfrm flipV="true">
            <a:off x="13406638" y="10873408"/>
            <a:ext cx="184143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3738489" y="9984826"/>
            <a:ext cx="5233005" cy="1664144"/>
            <a:chOff x="0" y="0"/>
            <a:chExt cx="362587" cy="11530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2587" cy="115306"/>
            </a:xfrm>
            <a:custGeom>
              <a:avLst/>
              <a:gdLst/>
              <a:ahLst/>
              <a:cxnLst/>
              <a:rect r="r" b="b" t="t" l="l"/>
              <a:pathLst>
                <a:path h="115306" w="362587">
                  <a:moveTo>
                    <a:pt x="57653" y="0"/>
                  </a:moveTo>
                  <a:lnTo>
                    <a:pt x="304934" y="0"/>
                  </a:lnTo>
                  <a:cubicBezTo>
                    <a:pt x="336775" y="0"/>
                    <a:pt x="362587" y="25812"/>
                    <a:pt x="362587" y="57653"/>
                  </a:cubicBezTo>
                  <a:lnTo>
                    <a:pt x="362587" y="57653"/>
                  </a:lnTo>
                  <a:cubicBezTo>
                    <a:pt x="362587" y="72944"/>
                    <a:pt x="356513" y="87608"/>
                    <a:pt x="345701" y="98420"/>
                  </a:cubicBezTo>
                  <a:cubicBezTo>
                    <a:pt x="334889" y="109232"/>
                    <a:pt x="320225" y="115306"/>
                    <a:pt x="304934" y="115306"/>
                  </a:cubicBezTo>
                  <a:lnTo>
                    <a:pt x="57653" y="115306"/>
                  </a:lnTo>
                  <a:cubicBezTo>
                    <a:pt x="42363" y="115306"/>
                    <a:pt x="27698" y="109232"/>
                    <a:pt x="16886" y="98420"/>
                  </a:cubicBezTo>
                  <a:cubicBezTo>
                    <a:pt x="6074" y="87608"/>
                    <a:pt x="0" y="72944"/>
                    <a:pt x="0" y="57653"/>
                  </a:cubicBezTo>
                  <a:lnTo>
                    <a:pt x="0" y="57653"/>
                  </a:lnTo>
                  <a:cubicBezTo>
                    <a:pt x="0" y="42363"/>
                    <a:pt x="6074" y="27698"/>
                    <a:pt x="16886" y="16886"/>
                  </a:cubicBezTo>
                  <a:cubicBezTo>
                    <a:pt x="27698" y="6074"/>
                    <a:pt x="42363" y="0"/>
                    <a:pt x="57653" y="0"/>
                  </a:cubicBez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14300"/>
              <a:ext cx="362587" cy="22960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692679" y="9952422"/>
            <a:ext cx="5233005" cy="1664144"/>
            <a:chOff x="0" y="0"/>
            <a:chExt cx="362587" cy="1153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2587" cy="115306"/>
            </a:xfrm>
            <a:custGeom>
              <a:avLst/>
              <a:gdLst/>
              <a:ahLst/>
              <a:cxnLst/>
              <a:rect r="r" b="b" t="t" l="l"/>
              <a:pathLst>
                <a:path h="115306" w="362587">
                  <a:moveTo>
                    <a:pt x="57653" y="0"/>
                  </a:moveTo>
                  <a:lnTo>
                    <a:pt x="304934" y="0"/>
                  </a:lnTo>
                  <a:cubicBezTo>
                    <a:pt x="336775" y="0"/>
                    <a:pt x="362587" y="25812"/>
                    <a:pt x="362587" y="57653"/>
                  </a:cubicBezTo>
                  <a:lnTo>
                    <a:pt x="362587" y="57653"/>
                  </a:lnTo>
                  <a:cubicBezTo>
                    <a:pt x="362587" y="72944"/>
                    <a:pt x="356513" y="87608"/>
                    <a:pt x="345701" y="98420"/>
                  </a:cubicBezTo>
                  <a:cubicBezTo>
                    <a:pt x="334889" y="109232"/>
                    <a:pt x="320225" y="115306"/>
                    <a:pt x="304934" y="115306"/>
                  </a:cubicBezTo>
                  <a:lnTo>
                    <a:pt x="57653" y="115306"/>
                  </a:lnTo>
                  <a:cubicBezTo>
                    <a:pt x="42363" y="115306"/>
                    <a:pt x="27698" y="109232"/>
                    <a:pt x="16886" y="98420"/>
                  </a:cubicBezTo>
                  <a:cubicBezTo>
                    <a:pt x="6074" y="87608"/>
                    <a:pt x="0" y="72944"/>
                    <a:pt x="0" y="57653"/>
                  </a:cubicBezTo>
                  <a:lnTo>
                    <a:pt x="0" y="57653"/>
                  </a:lnTo>
                  <a:cubicBezTo>
                    <a:pt x="0" y="42363"/>
                    <a:pt x="6074" y="27698"/>
                    <a:pt x="16886" y="16886"/>
                  </a:cubicBezTo>
                  <a:cubicBezTo>
                    <a:pt x="27698" y="6074"/>
                    <a:pt x="42363" y="0"/>
                    <a:pt x="57653" y="0"/>
                  </a:cubicBez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14300"/>
              <a:ext cx="362587" cy="22960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406638" y="34103039"/>
            <a:ext cx="9272636" cy="922605"/>
            <a:chOff x="0" y="0"/>
            <a:chExt cx="822384" cy="818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22384" cy="81825"/>
            </a:xfrm>
            <a:custGeom>
              <a:avLst/>
              <a:gdLst/>
              <a:ahLst/>
              <a:cxnLst/>
              <a:rect r="r" b="b" t="t" l="l"/>
              <a:pathLst>
                <a:path h="81825" w="822384">
                  <a:moveTo>
                    <a:pt x="0" y="0"/>
                  </a:moveTo>
                  <a:lnTo>
                    <a:pt x="822384" y="0"/>
                  </a:lnTo>
                  <a:lnTo>
                    <a:pt x="822384" y="81825"/>
                  </a:lnTo>
                  <a:lnTo>
                    <a:pt x="0" y="81825"/>
                  </a:ln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14300"/>
              <a:ext cx="822384" cy="196125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5649583" y="9946252"/>
            <a:ext cx="5233005" cy="1664144"/>
            <a:chOff x="0" y="0"/>
            <a:chExt cx="362587" cy="1153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2587" cy="115306"/>
            </a:xfrm>
            <a:custGeom>
              <a:avLst/>
              <a:gdLst/>
              <a:ahLst/>
              <a:cxnLst/>
              <a:rect r="r" b="b" t="t" l="l"/>
              <a:pathLst>
                <a:path h="115306" w="362587">
                  <a:moveTo>
                    <a:pt x="57653" y="0"/>
                  </a:moveTo>
                  <a:lnTo>
                    <a:pt x="304934" y="0"/>
                  </a:lnTo>
                  <a:cubicBezTo>
                    <a:pt x="336775" y="0"/>
                    <a:pt x="362587" y="25812"/>
                    <a:pt x="362587" y="57653"/>
                  </a:cubicBezTo>
                  <a:lnTo>
                    <a:pt x="362587" y="57653"/>
                  </a:lnTo>
                  <a:cubicBezTo>
                    <a:pt x="362587" y="72944"/>
                    <a:pt x="356513" y="87608"/>
                    <a:pt x="345701" y="98420"/>
                  </a:cubicBezTo>
                  <a:cubicBezTo>
                    <a:pt x="334889" y="109232"/>
                    <a:pt x="320225" y="115306"/>
                    <a:pt x="304934" y="115306"/>
                  </a:cubicBezTo>
                  <a:lnTo>
                    <a:pt x="57653" y="115306"/>
                  </a:lnTo>
                  <a:cubicBezTo>
                    <a:pt x="42363" y="115306"/>
                    <a:pt x="27698" y="109232"/>
                    <a:pt x="16886" y="98420"/>
                  </a:cubicBezTo>
                  <a:cubicBezTo>
                    <a:pt x="6074" y="87608"/>
                    <a:pt x="0" y="72944"/>
                    <a:pt x="0" y="57653"/>
                  </a:cubicBezTo>
                  <a:lnTo>
                    <a:pt x="0" y="57653"/>
                  </a:lnTo>
                  <a:cubicBezTo>
                    <a:pt x="0" y="42363"/>
                    <a:pt x="6074" y="27698"/>
                    <a:pt x="16886" y="16886"/>
                  </a:cubicBezTo>
                  <a:cubicBezTo>
                    <a:pt x="27698" y="6074"/>
                    <a:pt x="42363" y="0"/>
                    <a:pt x="57653" y="0"/>
                  </a:cubicBez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14300"/>
              <a:ext cx="362587" cy="22960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sp>
        <p:nvSpPr>
          <p:cNvPr name="AutoShape 63" id="63"/>
          <p:cNvSpPr/>
          <p:nvPr/>
        </p:nvSpPr>
        <p:spPr>
          <a:xfrm flipV="true">
            <a:off x="13456704" y="12620520"/>
            <a:ext cx="184143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13738489" y="11792105"/>
            <a:ext cx="5233005" cy="1664144"/>
            <a:chOff x="0" y="0"/>
            <a:chExt cx="362587" cy="11530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2587" cy="115306"/>
            </a:xfrm>
            <a:custGeom>
              <a:avLst/>
              <a:gdLst/>
              <a:ahLst/>
              <a:cxnLst/>
              <a:rect r="r" b="b" t="t" l="l"/>
              <a:pathLst>
                <a:path h="115306" w="362587">
                  <a:moveTo>
                    <a:pt x="57653" y="0"/>
                  </a:moveTo>
                  <a:lnTo>
                    <a:pt x="304934" y="0"/>
                  </a:lnTo>
                  <a:cubicBezTo>
                    <a:pt x="336775" y="0"/>
                    <a:pt x="362587" y="25812"/>
                    <a:pt x="362587" y="57653"/>
                  </a:cubicBezTo>
                  <a:lnTo>
                    <a:pt x="362587" y="57653"/>
                  </a:lnTo>
                  <a:cubicBezTo>
                    <a:pt x="362587" y="72944"/>
                    <a:pt x="356513" y="87608"/>
                    <a:pt x="345701" y="98420"/>
                  </a:cubicBezTo>
                  <a:cubicBezTo>
                    <a:pt x="334889" y="109232"/>
                    <a:pt x="320225" y="115306"/>
                    <a:pt x="304934" y="115306"/>
                  </a:cubicBezTo>
                  <a:lnTo>
                    <a:pt x="57653" y="115306"/>
                  </a:lnTo>
                  <a:cubicBezTo>
                    <a:pt x="42363" y="115306"/>
                    <a:pt x="27698" y="109232"/>
                    <a:pt x="16886" y="98420"/>
                  </a:cubicBezTo>
                  <a:cubicBezTo>
                    <a:pt x="6074" y="87608"/>
                    <a:pt x="0" y="72944"/>
                    <a:pt x="0" y="57653"/>
                  </a:cubicBezTo>
                  <a:lnTo>
                    <a:pt x="0" y="57653"/>
                  </a:lnTo>
                  <a:cubicBezTo>
                    <a:pt x="0" y="42363"/>
                    <a:pt x="6074" y="27698"/>
                    <a:pt x="16886" y="16886"/>
                  </a:cubicBezTo>
                  <a:cubicBezTo>
                    <a:pt x="27698" y="6074"/>
                    <a:pt x="42363" y="0"/>
                    <a:pt x="57653" y="0"/>
                  </a:cubicBez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14300"/>
              <a:ext cx="362587" cy="22960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9690085" y="11792247"/>
            <a:ext cx="5233005" cy="1664144"/>
            <a:chOff x="0" y="0"/>
            <a:chExt cx="362587" cy="11530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2587" cy="115306"/>
            </a:xfrm>
            <a:custGeom>
              <a:avLst/>
              <a:gdLst/>
              <a:ahLst/>
              <a:cxnLst/>
              <a:rect r="r" b="b" t="t" l="l"/>
              <a:pathLst>
                <a:path h="115306" w="362587">
                  <a:moveTo>
                    <a:pt x="57653" y="0"/>
                  </a:moveTo>
                  <a:lnTo>
                    <a:pt x="304934" y="0"/>
                  </a:lnTo>
                  <a:cubicBezTo>
                    <a:pt x="336775" y="0"/>
                    <a:pt x="362587" y="25812"/>
                    <a:pt x="362587" y="57653"/>
                  </a:cubicBezTo>
                  <a:lnTo>
                    <a:pt x="362587" y="57653"/>
                  </a:lnTo>
                  <a:cubicBezTo>
                    <a:pt x="362587" y="72944"/>
                    <a:pt x="356513" y="87608"/>
                    <a:pt x="345701" y="98420"/>
                  </a:cubicBezTo>
                  <a:cubicBezTo>
                    <a:pt x="334889" y="109232"/>
                    <a:pt x="320225" y="115306"/>
                    <a:pt x="304934" y="115306"/>
                  </a:cubicBezTo>
                  <a:lnTo>
                    <a:pt x="57653" y="115306"/>
                  </a:lnTo>
                  <a:cubicBezTo>
                    <a:pt x="42363" y="115306"/>
                    <a:pt x="27698" y="109232"/>
                    <a:pt x="16886" y="98420"/>
                  </a:cubicBezTo>
                  <a:cubicBezTo>
                    <a:pt x="6074" y="87608"/>
                    <a:pt x="0" y="72944"/>
                    <a:pt x="0" y="57653"/>
                  </a:cubicBezTo>
                  <a:lnTo>
                    <a:pt x="0" y="57653"/>
                  </a:lnTo>
                  <a:cubicBezTo>
                    <a:pt x="0" y="42363"/>
                    <a:pt x="6074" y="27698"/>
                    <a:pt x="16886" y="16886"/>
                  </a:cubicBezTo>
                  <a:cubicBezTo>
                    <a:pt x="27698" y="6074"/>
                    <a:pt x="42363" y="0"/>
                    <a:pt x="57653" y="0"/>
                  </a:cubicBez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14300"/>
              <a:ext cx="362587" cy="22960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5666215" y="11792105"/>
            <a:ext cx="5233005" cy="1664144"/>
            <a:chOff x="0" y="0"/>
            <a:chExt cx="362587" cy="1153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2587" cy="115306"/>
            </a:xfrm>
            <a:custGeom>
              <a:avLst/>
              <a:gdLst/>
              <a:ahLst/>
              <a:cxnLst/>
              <a:rect r="r" b="b" t="t" l="l"/>
              <a:pathLst>
                <a:path h="115306" w="362587">
                  <a:moveTo>
                    <a:pt x="57653" y="0"/>
                  </a:moveTo>
                  <a:lnTo>
                    <a:pt x="304934" y="0"/>
                  </a:lnTo>
                  <a:cubicBezTo>
                    <a:pt x="336775" y="0"/>
                    <a:pt x="362587" y="25812"/>
                    <a:pt x="362587" y="57653"/>
                  </a:cubicBezTo>
                  <a:lnTo>
                    <a:pt x="362587" y="57653"/>
                  </a:lnTo>
                  <a:cubicBezTo>
                    <a:pt x="362587" y="72944"/>
                    <a:pt x="356513" y="87608"/>
                    <a:pt x="345701" y="98420"/>
                  </a:cubicBezTo>
                  <a:cubicBezTo>
                    <a:pt x="334889" y="109232"/>
                    <a:pt x="320225" y="115306"/>
                    <a:pt x="304934" y="115306"/>
                  </a:cubicBezTo>
                  <a:lnTo>
                    <a:pt x="57653" y="115306"/>
                  </a:lnTo>
                  <a:cubicBezTo>
                    <a:pt x="42363" y="115306"/>
                    <a:pt x="27698" y="109232"/>
                    <a:pt x="16886" y="98420"/>
                  </a:cubicBezTo>
                  <a:cubicBezTo>
                    <a:pt x="6074" y="87608"/>
                    <a:pt x="0" y="72944"/>
                    <a:pt x="0" y="57653"/>
                  </a:cubicBezTo>
                  <a:lnTo>
                    <a:pt x="0" y="57653"/>
                  </a:lnTo>
                  <a:cubicBezTo>
                    <a:pt x="0" y="42363"/>
                    <a:pt x="6074" y="27698"/>
                    <a:pt x="16886" y="16886"/>
                  </a:cubicBezTo>
                  <a:cubicBezTo>
                    <a:pt x="27698" y="6074"/>
                    <a:pt x="42363" y="0"/>
                    <a:pt x="57653" y="0"/>
                  </a:cubicBez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14300"/>
              <a:ext cx="362587" cy="22960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3722496" y="18025675"/>
            <a:ext cx="11010953" cy="8244451"/>
          </a:xfrm>
          <a:custGeom>
            <a:avLst/>
            <a:gdLst/>
            <a:ahLst/>
            <a:cxnLst/>
            <a:rect r="r" b="b" t="t" l="l"/>
            <a:pathLst>
              <a:path h="8244451" w="11010953">
                <a:moveTo>
                  <a:pt x="0" y="0"/>
                </a:moveTo>
                <a:lnTo>
                  <a:pt x="11010952" y="0"/>
                </a:lnTo>
                <a:lnTo>
                  <a:pt x="11010952" y="8244451"/>
                </a:lnTo>
                <a:lnTo>
                  <a:pt x="0" y="82444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3474501" y="27540867"/>
            <a:ext cx="10640513" cy="5976923"/>
            <a:chOff x="0" y="0"/>
            <a:chExt cx="790389" cy="44397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90389" cy="443973"/>
            </a:xfrm>
            <a:custGeom>
              <a:avLst/>
              <a:gdLst/>
              <a:ahLst/>
              <a:cxnLst/>
              <a:rect r="r" b="b" t="t" l="l"/>
              <a:pathLst>
                <a:path h="443973" w="790389">
                  <a:moveTo>
                    <a:pt x="0" y="0"/>
                  </a:moveTo>
                  <a:lnTo>
                    <a:pt x="790389" y="0"/>
                  </a:lnTo>
                  <a:lnTo>
                    <a:pt x="790389" y="443973"/>
                  </a:lnTo>
                  <a:lnTo>
                    <a:pt x="0" y="443973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114300"/>
              <a:ext cx="790389" cy="558273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13607853" y="27653529"/>
            <a:ext cx="10363242" cy="5751599"/>
          </a:xfrm>
          <a:custGeom>
            <a:avLst/>
            <a:gdLst/>
            <a:ahLst/>
            <a:cxnLst/>
            <a:rect r="r" b="b" t="t" l="l"/>
            <a:pathLst>
              <a:path h="5751599" w="10363242">
                <a:moveTo>
                  <a:pt x="0" y="0"/>
                </a:moveTo>
                <a:lnTo>
                  <a:pt x="10363242" y="0"/>
                </a:lnTo>
                <a:lnTo>
                  <a:pt x="10363242" y="5751600"/>
                </a:lnTo>
                <a:lnTo>
                  <a:pt x="0" y="5751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25042984" y="20861896"/>
            <a:ext cx="6897896" cy="1673744"/>
            <a:chOff x="0" y="0"/>
            <a:chExt cx="766632" cy="1860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66632" cy="186020"/>
            </a:xfrm>
            <a:custGeom>
              <a:avLst/>
              <a:gdLst/>
              <a:ahLst/>
              <a:cxnLst/>
              <a:rect r="r" b="b" t="t" l="l"/>
              <a:pathLst>
                <a:path h="186020" w="766632">
                  <a:moveTo>
                    <a:pt x="0" y="0"/>
                  </a:moveTo>
                  <a:lnTo>
                    <a:pt x="766632" y="0"/>
                  </a:lnTo>
                  <a:lnTo>
                    <a:pt x="766632" y="186020"/>
                  </a:lnTo>
                  <a:lnTo>
                    <a:pt x="0" y="186020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114300"/>
              <a:ext cx="766632" cy="300320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25123130" y="20952092"/>
            <a:ext cx="6737605" cy="1507539"/>
          </a:xfrm>
          <a:custGeom>
            <a:avLst/>
            <a:gdLst/>
            <a:ahLst/>
            <a:cxnLst/>
            <a:rect r="r" b="b" t="t" l="l"/>
            <a:pathLst>
              <a:path h="1507539" w="6737605">
                <a:moveTo>
                  <a:pt x="0" y="0"/>
                </a:moveTo>
                <a:lnTo>
                  <a:pt x="6737605" y="0"/>
                </a:lnTo>
                <a:lnTo>
                  <a:pt x="6737605" y="1507539"/>
                </a:lnTo>
                <a:lnTo>
                  <a:pt x="0" y="15075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25099775" y="18102839"/>
            <a:ext cx="6769885" cy="1681580"/>
          </a:xfrm>
          <a:custGeom>
            <a:avLst/>
            <a:gdLst/>
            <a:ahLst/>
            <a:cxnLst/>
            <a:rect r="r" b="b" t="t" l="l"/>
            <a:pathLst>
              <a:path h="1681580" w="6769885">
                <a:moveTo>
                  <a:pt x="0" y="0"/>
                </a:moveTo>
                <a:lnTo>
                  <a:pt x="6769885" y="0"/>
                </a:lnTo>
                <a:lnTo>
                  <a:pt x="6769885" y="1681581"/>
                </a:lnTo>
                <a:lnTo>
                  <a:pt x="0" y="16815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25042984" y="23500091"/>
            <a:ext cx="6886349" cy="10178426"/>
            <a:chOff x="0" y="0"/>
            <a:chExt cx="544167" cy="8043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4167" cy="804311"/>
            </a:xfrm>
            <a:custGeom>
              <a:avLst/>
              <a:gdLst/>
              <a:ahLst/>
              <a:cxnLst/>
              <a:rect r="r" b="b" t="t" l="l"/>
              <a:pathLst>
                <a:path h="804311" w="544167">
                  <a:moveTo>
                    <a:pt x="0" y="0"/>
                  </a:moveTo>
                  <a:lnTo>
                    <a:pt x="544167" y="0"/>
                  </a:lnTo>
                  <a:lnTo>
                    <a:pt x="544167" y="804311"/>
                  </a:lnTo>
                  <a:lnTo>
                    <a:pt x="0" y="804311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114300"/>
              <a:ext cx="544167" cy="918611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25218094" y="23641832"/>
            <a:ext cx="6563620" cy="4899032"/>
          </a:xfrm>
          <a:custGeom>
            <a:avLst/>
            <a:gdLst/>
            <a:ahLst/>
            <a:cxnLst/>
            <a:rect r="r" b="b" t="t" l="l"/>
            <a:pathLst>
              <a:path h="4899032" w="6563620">
                <a:moveTo>
                  <a:pt x="0" y="0"/>
                </a:moveTo>
                <a:lnTo>
                  <a:pt x="6563620" y="0"/>
                </a:lnTo>
                <a:lnTo>
                  <a:pt x="6563620" y="4899032"/>
                </a:lnTo>
                <a:lnTo>
                  <a:pt x="0" y="48990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65" t="-2966" r="-104822" b="-271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22885766" y="35485013"/>
            <a:ext cx="8985238" cy="7528355"/>
            <a:chOff x="0" y="0"/>
            <a:chExt cx="796895" cy="66768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96895" cy="667685"/>
            </a:xfrm>
            <a:custGeom>
              <a:avLst/>
              <a:gdLst/>
              <a:ahLst/>
              <a:cxnLst/>
              <a:rect r="r" b="b" t="t" l="l"/>
              <a:pathLst>
                <a:path h="667685" w="796895">
                  <a:moveTo>
                    <a:pt x="0" y="0"/>
                  </a:moveTo>
                  <a:lnTo>
                    <a:pt x="796895" y="0"/>
                  </a:lnTo>
                  <a:lnTo>
                    <a:pt x="796895" y="667685"/>
                  </a:lnTo>
                  <a:lnTo>
                    <a:pt x="0" y="667685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114300"/>
              <a:ext cx="796895" cy="781985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2885766" y="35053857"/>
            <a:ext cx="8985238" cy="559672"/>
            <a:chOff x="0" y="0"/>
            <a:chExt cx="796895" cy="4963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96895" cy="49637"/>
            </a:xfrm>
            <a:custGeom>
              <a:avLst/>
              <a:gdLst/>
              <a:ahLst/>
              <a:cxnLst/>
              <a:rect r="r" b="b" t="t" l="l"/>
              <a:pathLst>
                <a:path h="49637" w="796895">
                  <a:moveTo>
                    <a:pt x="0" y="0"/>
                  </a:moveTo>
                  <a:lnTo>
                    <a:pt x="796895" y="0"/>
                  </a:lnTo>
                  <a:lnTo>
                    <a:pt x="796895" y="49637"/>
                  </a:lnTo>
                  <a:lnTo>
                    <a:pt x="0" y="49637"/>
                  </a:ln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14300"/>
              <a:ext cx="796895" cy="163937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384045" y="30800576"/>
            <a:ext cx="12601401" cy="7566869"/>
            <a:chOff x="0" y="0"/>
            <a:chExt cx="771107" cy="46303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71107" cy="463033"/>
            </a:xfrm>
            <a:custGeom>
              <a:avLst/>
              <a:gdLst/>
              <a:ahLst/>
              <a:cxnLst/>
              <a:rect r="r" b="b" t="t" l="l"/>
              <a:pathLst>
                <a:path h="463033" w="771107">
                  <a:moveTo>
                    <a:pt x="0" y="0"/>
                  </a:moveTo>
                  <a:lnTo>
                    <a:pt x="771107" y="0"/>
                  </a:lnTo>
                  <a:lnTo>
                    <a:pt x="771107" y="463033"/>
                  </a:lnTo>
                  <a:lnTo>
                    <a:pt x="0" y="463033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114300"/>
              <a:ext cx="771107" cy="577333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395609" y="39911909"/>
            <a:ext cx="12565837" cy="3101458"/>
            <a:chOff x="0" y="0"/>
            <a:chExt cx="1114456" cy="27506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14456" cy="275066"/>
            </a:xfrm>
            <a:custGeom>
              <a:avLst/>
              <a:gdLst/>
              <a:ahLst/>
              <a:cxnLst/>
              <a:rect r="r" b="b" t="t" l="l"/>
              <a:pathLst>
                <a:path h="275066" w="1114456">
                  <a:moveTo>
                    <a:pt x="0" y="0"/>
                  </a:moveTo>
                  <a:lnTo>
                    <a:pt x="1114456" y="0"/>
                  </a:lnTo>
                  <a:lnTo>
                    <a:pt x="1114456" y="275066"/>
                  </a:lnTo>
                  <a:lnTo>
                    <a:pt x="0" y="275066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114300"/>
              <a:ext cx="1114456" cy="389366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95609" y="39285981"/>
            <a:ext cx="12565837" cy="631734"/>
            <a:chOff x="0" y="0"/>
            <a:chExt cx="1114456" cy="5602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14456" cy="56028"/>
            </a:xfrm>
            <a:custGeom>
              <a:avLst/>
              <a:gdLst/>
              <a:ahLst/>
              <a:cxnLst/>
              <a:rect r="r" b="b" t="t" l="l"/>
              <a:pathLst>
                <a:path h="56028" w="1114456">
                  <a:moveTo>
                    <a:pt x="0" y="0"/>
                  </a:moveTo>
                  <a:lnTo>
                    <a:pt x="1114456" y="0"/>
                  </a:lnTo>
                  <a:lnTo>
                    <a:pt x="1114456" y="56028"/>
                  </a:lnTo>
                  <a:lnTo>
                    <a:pt x="0" y="56028"/>
                  </a:ln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14300"/>
              <a:ext cx="1114456" cy="170328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64537" y="31007653"/>
            <a:ext cx="12556952" cy="7204414"/>
            <a:chOff x="0" y="0"/>
            <a:chExt cx="1380317" cy="79194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380317" cy="791942"/>
            </a:xfrm>
            <a:custGeom>
              <a:avLst/>
              <a:gdLst/>
              <a:ahLst/>
              <a:cxnLst/>
              <a:rect r="r" b="b" t="t" l="l"/>
              <a:pathLst>
                <a:path h="791942" w="1380317">
                  <a:moveTo>
                    <a:pt x="0" y="0"/>
                  </a:moveTo>
                  <a:lnTo>
                    <a:pt x="1380317" y="0"/>
                  </a:lnTo>
                  <a:lnTo>
                    <a:pt x="1380317" y="791942"/>
                  </a:lnTo>
                  <a:lnTo>
                    <a:pt x="0" y="791942"/>
                  </a:lnTo>
                  <a:close/>
                </a:path>
              </a:pathLst>
            </a:custGeom>
            <a:blipFill>
              <a:blip r:embed="rId12"/>
              <a:stretch>
                <a:fillRect l="-8992" t="-1366" r="-7322" b="0"/>
              </a:stretch>
            </a:blipFill>
          </p:spPr>
        </p:sp>
      </p:grpSp>
      <p:sp>
        <p:nvSpPr>
          <p:cNvPr name="TextBox 104" id="104"/>
          <p:cNvSpPr txBox="true"/>
          <p:nvPr/>
        </p:nvSpPr>
        <p:spPr>
          <a:xfrm rot="0">
            <a:off x="13738489" y="11890950"/>
            <a:ext cx="5233005" cy="160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en-US" b="true" sz="305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de clases de dataset públicos(VEDAI) con  QUEEN-BEE 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3406638" y="8524239"/>
            <a:ext cx="18490105" cy="1243356"/>
            <a:chOff x="0" y="0"/>
            <a:chExt cx="1639876" cy="11027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639876" cy="110272"/>
            </a:xfrm>
            <a:custGeom>
              <a:avLst/>
              <a:gdLst/>
              <a:ahLst/>
              <a:cxnLst/>
              <a:rect r="r" b="b" t="t" l="l"/>
              <a:pathLst>
                <a:path h="110272" w="1639876">
                  <a:moveTo>
                    <a:pt x="0" y="0"/>
                  </a:moveTo>
                  <a:lnTo>
                    <a:pt x="1639876" y="0"/>
                  </a:lnTo>
                  <a:lnTo>
                    <a:pt x="1639876" y="110272"/>
                  </a:lnTo>
                  <a:lnTo>
                    <a:pt x="0" y="110272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07668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114300"/>
              <a:ext cx="1639876" cy="224572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406638" y="8150184"/>
            <a:ext cx="18490105" cy="849933"/>
            <a:chOff x="0" y="0"/>
            <a:chExt cx="1639876" cy="753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639876" cy="75380"/>
            </a:xfrm>
            <a:custGeom>
              <a:avLst/>
              <a:gdLst/>
              <a:ahLst/>
              <a:cxnLst/>
              <a:rect r="r" b="b" t="t" l="l"/>
              <a:pathLst>
                <a:path h="75380" w="1639876">
                  <a:moveTo>
                    <a:pt x="0" y="0"/>
                  </a:moveTo>
                  <a:lnTo>
                    <a:pt x="1639876" y="0"/>
                  </a:lnTo>
                  <a:lnTo>
                    <a:pt x="1639876" y="75380"/>
                  </a:lnTo>
                  <a:lnTo>
                    <a:pt x="0" y="75380"/>
                  </a:lnTo>
                  <a:close/>
                </a:path>
              </a:pathLst>
            </a:custGeom>
            <a:solidFill>
              <a:srgbClr val="867C73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14300"/>
              <a:ext cx="1639876" cy="189680"/>
            </a:xfrm>
            <a:prstGeom prst="rect">
              <a:avLst/>
            </a:prstGeom>
          </p:spPr>
          <p:txBody>
            <a:bodyPr anchor="ctr" rtlCol="false" tIns="145143" lIns="145143" bIns="145143" rIns="145143"/>
            <a:lstStyle/>
            <a:p>
              <a:pPr algn="ctr">
                <a:lnSpc>
                  <a:spcPts val="8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1" id="111"/>
          <p:cNvSpPr/>
          <p:nvPr/>
        </p:nvSpPr>
        <p:spPr>
          <a:xfrm>
            <a:off x="13455947" y="10892458"/>
            <a:ext cx="348186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12" id="112"/>
          <p:cNvSpPr/>
          <p:nvPr/>
        </p:nvSpPr>
        <p:spPr>
          <a:xfrm>
            <a:off x="13474501" y="12639570"/>
            <a:ext cx="331850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113" id="113"/>
          <p:cNvSpPr/>
          <p:nvPr/>
        </p:nvSpPr>
        <p:spPr>
          <a:xfrm flipH="false" flipV="false" rot="0">
            <a:off x="25218094" y="28604472"/>
            <a:ext cx="6563620" cy="4943142"/>
          </a:xfrm>
          <a:custGeom>
            <a:avLst/>
            <a:gdLst/>
            <a:ahLst/>
            <a:cxnLst/>
            <a:rect r="r" b="b" t="t" l="l"/>
            <a:pathLst>
              <a:path h="4943142" w="6563620">
                <a:moveTo>
                  <a:pt x="0" y="0"/>
                </a:moveTo>
                <a:lnTo>
                  <a:pt x="6563620" y="0"/>
                </a:lnTo>
                <a:lnTo>
                  <a:pt x="6563620" y="4943141"/>
                </a:lnTo>
                <a:lnTo>
                  <a:pt x="0" y="49431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06009" t="-2887" r="-2166" b="-2498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22679274" y="821696"/>
            <a:ext cx="9106433" cy="3278316"/>
          </a:xfrm>
          <a:custGeom>
            <a:avLst/>
            <a:gdLst/>
            <a:ahLst/>
            <a:cxnLst/>
            <a:rect r="r" b="b" t="t" l="l"/>
            <a:pathLst>
              <a:path h="3278316" w="9106433">
                <a:moveTo>
                  <a:pt x="0" y="0"/>
                </a:moveTo>
                <a:lnTo>
                  <a:pt x="9106434" y="0"/>
                </a:lnTo>
                <a:lnTo>
                  <a:pt x="9106434" y="3278316"/>
                </a:lnTo>
                <a:lnTo>
                  <a:pt x="0" y="32783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5" id="115"/>
          <p:cNvSpPr txBox="true"/>
          <p:nvPr/>
        </p:nvSpPr>
        <p:spPr>
          <a:xfrm rot="0">
            <a:off x="574586" y="39380777"/>
            <a:ext cx="11972657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4"/>
              </a:lnSpc>
            </a:pPr>
            <a:r>
              <a:rPr lang="en-US" b="true" sz="3428" i="true" spc="181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AGRADECIMIENTOS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9692679" y="10247128"/>
            <a:ext cx="5233005" cy="106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en-US" b="true" sz="305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Exploracion de datos de QUEEN-BEE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25666215" y="10040697"/>
            <a:ext cx="5233005" cy="160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en-US" b="true" sz="305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Conformacion de dataset L1y L2 con datos de QUEEN-BEE.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25666215" y="11848117"/>
            <a:ext cx="5233005" cy="160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en-US" b="true" sz="305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Aplicación de métricas de rendimiento sobre modelo no supervisado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2885766" y="35082432"/>
            <a:ext cx="8952649" cy="53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4"/>
              </a:lnSpc>
            </a:pPr>
            <a:r>
              <a:rPr lang="en-US" b="true" sz="3428" spc="1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REFERENCIAS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24599" y="551866"/>
            <a:ext cx="21581100" cy="442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64"/>
              </a:lnSpc>
            </a:pPr>
            <a:r>
              <a:rPr lang="en-US" b="true" sz="633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COMPATIBILIDAD ESPECTRAL ENTRE DOMINIOS Y CLASIFICACIÓN NO SUPERVISADA DE COBERTURAS DEL SUELO EN IMÁGENES VIS–NIR EN PAISAJES COLOMBIANOS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395609" y="6215015"/>
            <a:ext cx="22000658" cy="122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571" spc="1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JUAN ÁNGEL GÁMEZ DÍAZ¹, SEBASTIÁN CARMONA ESTRADA², OLGA LUCÍA QUINTERO MONTOYA²</a:t>
            </a:r>
          </a:p>
          <a:p>
            <a:pPr algn="ctr">
              <a:lnSpc>
                <a:spcPts val="3265"/>
              </a:lnSpc>
            </a:pPr>
            <a:r>
              <a:rPr lang="en-US" sz="2571" spc="1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¹² EAFIT University — School of Applied Sciences and Engineering, Medellín, Colombia</a:t>
            </a:r>
          </a:p>
          <a:p>
            <a:pPr algn="ctr" marL="0" indent="0" lvl="0">
              <a:lnSpc>
                <a:spcPts val="3265"/>
              </a:lnSpc>
            </a:pPr>
            <a:r>
              <a:rPr lang="en-US" sz="2571" spc="1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71" spc="1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JAGAMEZD@EAFIT.EDU.CO¹, SCARMONAE@EAFIT.EDU.CO², OQUINTE1@EAFIT.EDU.CO²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524599" y="8095194"/>
            <a:ext cx="12615823" cy="85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4"/>
              </a:lnSpc>
            </a:pPr>
            <a:r>
              <a:rPr lang="en-US" b="true" sz="5428" spc="2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RESUMEN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574586" y="8987671"/>
            <a:ext cx="12478062" cy="235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Estudio del espectro VIS–NIR de </a:t>
            </a:r>
            <a:r>
              <a:rPr lang="en-US" b="true" sz="33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QUEEN-BEE</a:t>
            </a:r>
            <a:r>
              <a:rPr lang="en-US" sz="33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su compatibilidad con datos públicos. K-means logró Silhouette 0.57 (Kaggle) y 0.33 (QUEEN-BEE), mostrando mayor variabilidad en escenas colombianas y potencial del VIS–NIR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3804132" y="10242294"/>
            <a:ext cx="5233005" cy="106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en-US" b="true" sz="305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Exploración de datasets publicos (VEDAI, Kaggle)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574586" y="13102331"/>
            <a:ext cx="12434597" cy="47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observación terrestre permite caracterizar la cobertura del suelo, pero la resolución satelital es limitada para paisajes heterogéneos como los colombianos. Los UAV con sensores </a:t>
            </a:r>
            <a:r>
              <a:rPr lang="en-US" b="true" sz="33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VIS–NIR</a:t>
            </a:r>
            <a:r>
              <a:rPr lang="en-US" sz="33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ofrecen alta resolución, aunque con desafíos de adquisición y variabilidad entre sensores. Este estudio compara espectralmente datasets públicos y el sistema QUEEN-BEE y evalúa la separabilidad de clases mediante métodos no supervisados.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593250" y="13684422"/>
            <a:ext cx="17216140" cy="72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5"/>
              </a:lnSpc>
            </a:pPr>
            <a:r>
              <a:rPr lang="en-US" b="true" sz="4571" spc="24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3630039" y="14509308"/>
            <a:ext cx="18098015" cy="294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3"/>
              </a:lnSpc>
              <a:spcBef>
                <a:spcPct val="0"/>
              </a:spcBef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análisis evidenció compatibilidad espectral entre VEDAI y </a:t>
            </a:r>
            <a:r>
              <a:rPr lang="en-US" b="true" sz="33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QUEEN-BEE</a:t>
            </a: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 la banda NIR (ρ ≈ 0.62). En clasificación no supervisada, Kaggle mostró alta separabilidad (Silhouette = 0.57) y </a:t>
            </a:r>
            <a:r>
              <a:rPr lang="en-US" b="true" sz="33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QUEEN-BEE</a:t>
            </a: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valores moderados (≈0.33), reflejando diferencias geográficas y de adquisición. Aun así, K-means logró clústeres coherentes para vegetación, edificaciones y vías.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3272481" y="35158995"/>
            <a:ext cx="9205258" cy="8849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5013" indent="-362506" lvl="1">
              <a:lnSpc>
                <a:spcPts val="4701"/>
              </a:lnSpc>
              <a:buFont typeface="Arial"/>
              <a:buChar char="•"/>
            </a:pPr>
            <a:r>
              <a:rPr lang="en-US" sz="33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identificó alta compatibilidad espectral entre VEDAI y </a:t>
            </a:r>
            <a:r>
              <a:rPr lang="en-US" b="true" sz="335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QUEEN-BEE</a:t>
            </a:r>
            <a:r>
              <a:rPr lang="en-US" sz="33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 clases “car” y “pickup truck”, ρ ≈ 0.62), lo que demuestra potencial de transferencia entre dominios.</a:t>
            </a:r>
          </a:p>
          <a:p>
            <a:pPr algn="just" marL="725013" indent="-362506" lvl="1">
              <a:lnSpc>
                <a:spcPts val="4701"/>
              </a:lnSpc>
              <a:buFont typeface="Arial"/>
              <a:buChar char="•"/>
            </a:pPr>
            <a:r>
              <a:rPr lang="en-US" sz="33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variabilidad de las </a:t>
            </a:r>
            <a:r>
              <a:rPr lang="en-US" b="true" sz="335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escenas colombianas</a:t>
            </a:r>
            <a:r>
              <a:rPr lang="en-US" sz="33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genera baja separabilidad comparada con benchmarks (Silhouette: 0.57 vs. 0.33).</a:t>
            </a:r>
          </a:p>
          <a:p>
            <a:pPr algn="just" marL="725013" indent="-362506" lvl="1">
              <a:lnSpc>
                <a:spcPts val="4701"/>
              </a:lnSpc>
              <a:buFont typeface="Arial"/>
              <a:buChar char="•"/>
            </a:pPr>
            <a:r>
              <a:rPr lang="en-US" b="true" sz="335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K-means</a:t>
            </a:r>
            <a:r>
              <a:rPr lang="en-US" sz="33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logró distinguir patrones estables en vegetación, edificaciones y vías, mostrando que las bandas VIS–NIR contienen información útil incluso sin supervisión.</a:t>
            </a:r>
          </a:p>
          <a:p>
            <a:pPr algn="just">
              <a:lnSpc>
                <a:spcPts val="4701"/>
              </a:lnSpc>
            </a:pPr>
          </a:p>
          <a:p>
            <a:pPr algn="just">
              <a:lnSpc>
                <a:spcPts val="4701"/>
              </a:lnSpc>
              <a:spcBef>
                <a:spcPct val="0"/>
              </a:spcBef>
            </a:pPr>
          </a:p>
        </p:txBody>
      </p:sp>
      <p:sp>
        <p:nvSpPr>
          <p:cNvPr name="TextBox 129" id="129"/>
          <p:cNvSpPr txBox="true"/>
          <p:nvPr/>
        </p:nvSpPr>
        <p:spPr>
          <a:xfrm rot="0">
            <a:off x="2222209" y="28224690"/>
            <a:ext cx="10296435" cy="72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5"/>
              </a:lnSpc>
            </a:pPr>
            <a:r>
              <a:rPr lang="en-US" b="true" sz="4571" spc="24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524599" y="12159715"/>
            <a:ext cx="12674033" cy="85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4"/>
              </a:lnSpc>
            </a:pPr>
            <a:r>
              <a:rPr lang="en-US" b="true" sz="5428" spc="2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INTRODUCCION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395609" y="24278011"/>
            <a:ext cx="12803024" cy="46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0"/>
              </a:lnSpc>
              <a:spcBef>
                <a:spcPct val="0"/>
              </a:spcBef>
            </a:pPr>
            <a:r>
              <a:rPr lang="en-US" b="true" sz="27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Figura 1: QUEEN-BEE e imagenes NIR-RGB. </a:t>
            </a:r>
            <a:r>
              <a:rPr lang="en-US" b="true" sz="27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425551" y="24993450"/>
            <a:ext cx="12365142" cy="85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4"/>
              </a:lnSpc>
            </a:pPr>
            <a:r>
              <a:rPr lang="en-US" b="true" sz="5428" spc="2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384045" y="26064695"/>
            <a:ext cx="12406647" cy="412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imágenes VIS–NIR permiten diferenciar materiales y coberturas gracias a sus patrones de reflectancia.</a:t>
            </a:r>
          </a:p>
          <a:p>
            <a:pPr algn="just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compatibilidad entre datasets se analiza con métricas como Pearson (correlación) y Chi-square (divergencia).</a:t>
            </a:r>
          </a:p>
          <a:p>
            <a:pPr algn="just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estructura intrínseca de los datos puede explorarse con </a:t>
            </a:r>
            <a:r>
              <a:rPr lang="en-US" b="true" sz="33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K-means</a:t>
            </a: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cuyas metricas se evalúa mediante Silhouette, Calinski–Harabasz y Davies–Bouldin.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562942" y="38527338"/>
            <a:ext cx="12231170" cy="46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0"/>
              </a:lnSpc>
              <a:spcBef>
                <a:spcPct val="0"/>
              </a:spcBef>
            </a:pPr>
            <a:r>
              <a:rPr lang="en-US" b="true" sz="27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Figura 2: Histograma acumulado bandas R,G,B-NIR de QUEEN-BEE.</a:t>
            </a:r>
            <a:r>
              <a:rPr lang="en-US" b="true" sz="27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3345706" y="34164948"/>
            <a:ext cx="9333568" cy="86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4"/>
              </a:lnSpc>
            </a:pPr>
            <a:r>
              <a:rPr lang="en-US" b="true" sz="5428" spc="2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9692679" y="11757437"/>
            <a:ext cx="5233005" cy="160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en-US" b="true" sz="305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Aplicacion de modelo no supervisado sobre datasets L1,L2,KAGGLE 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3533474" y="26467899"/>
            <a:ext cx="11314034" cy="94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0"/>
              </a:lnSpc>
              <a:spcBef>
                <a:spcPct val="0"/>
              </a:spcBef>
            </a:pPr>
            <a:r>
              <a:rPr lang="en-US" b="true" sz="27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Figura 3: Histogramas acumulados de 4 clases de VEDAI y QUEEN-BEE.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25480894" y="19857554"/>
            <a:ext cx="6247160" cy="9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Figura 4: Metricas estadisticas y clase carro de VEDAI y QUEEN-BEE.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3592447" y="33554018"/>
            <a:ext cx="10810675" cy="46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Figura 6: Coeficiente de silueta vs # clusters.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25099775" y="33704664"/>
            <a:ext cx="6841105" cy="94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0"/>
              </a:lnSpc>
              <a:spcBef>
                <a:spcPct val="0"/>
              </a:spcBef>
            </a:pPr>
            <a:r>
              <a:rPr lang="en-US" b="true" sz="27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Figura 7: Imagen de QUEEN-BEE original y segmentada por k-means.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23098374" y="35681962"/>
            <a:ext cx="8501277" cy="743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[1] D. A. Chiran Taimal, Optimización del monitoreo ambiental mediante aplicaciones digitales en reforestaciones y restauraciones ecológicas en Cumbal, Colombia, 2024.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[2] C. A. Pedraza Peñaloza, Novel methods and technologies to improve monitoring and understanding of land use land cover dynamics based on satellite Earth Observation: The case of forest monitoring in Colombia, 2023.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[3] J. A. Achicanoy, R. Rojas-Robles, and J. E. Sánchez, “Land cover vegetation analysis and projection through remote sensing and Geographic Information Systems in the Suba District, Bogotá–Colombia,” Gestión y Ambiente, vol. 21, no. 1, p. 41, 2018.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[4] M. O. Chávez Can, Uso de imágenes de satélite de alta resolución espacial en la detección de cultivos agrícolas en el municipio de Patzicía, Chimaltenango, Ph.D. dissertation, 2021.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[5] S. Khorram, F. H. Koch, C. F. Van der Wiele, and S. A. Nelson, Remote Sensing, Springer, 2012.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[6] A. Vijayakumar and S. Vairavasundaram, “YOLO-based object detection models: A review and its applications,” Multimedia Tools and Applications, vol. 83, pp. 83535–83574, 2024.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[7] European Space Agency (ESA) &amp; European Commission, “Copernicus Sentinel-2: A multispectral high-resolution land monitoring mission,” Copernicus Programme, 2024.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[8] J. D. Lencinas and A. Siebert, “Relevamiento de bosques con información satelital: Resolución espacial y escala,” Quebracho – Revista de Ciencias Forestales, vol. 17, . 101–105, 2009.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[9] Instituto Geográfico Agustín Codazzi (IGAC), “Observatorio de la Tierra y el Territorio,” 2024. 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[10] SIATA – Sistema de Alerta Temprana de Medellín y el Valle de Aburrá, , 2025. 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[11] P. S. P. Reyes et al., “Determinación de la pérdida de cobertura vegetal en el Cantón Manta (Periodo 2000–2022),” 2024.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[12] M. Reyes and I. Lizarazo, “Convolutional neural network-based semantic segmentation model for land cover classification in páramo ecosystems”, 2025.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[13] S. Razakarivony and F. Jurie, “Vehicle detection in aerial imagery: A small target detection benchmark,” Journal of Visual Communication and Image Representation, 2015.</a:t>
            </a:r>
          </a:p>
          <a:p>
            <a:pPr algn="just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[14] P. Ebel, A. Meraner, M. Schmitt, and X. X. Zhu, “Multisensor data fusion for cloud removal in global and all-season Sentinel-2 imagery,” IEEE Transactions on Geoscience and Remote Sensing, 2020.</a:t>
            </a:r>
          </a:p>
          <a:p>
            <a:pPr algn="just">
              <a:lnSpc>
                <a:spcPts val="2001"/>
              </a:lnSpc>
              <a:spcBef>
                <a:spcPct val="0"/>
              </a:spcBef>
            </a:pPr>
          </a:p>
        </p:txBody>
      </p:sp>
      <p:sp>
        <p:nvSpPr>
          <p:cNvPr name="TextBox 142" id="142"/>
          <p:cNvSpPr txBox="true"/>
          <p:nvPr/>
        </p:nvSpPr>
        <p:spPr>
          <a:xfrm rot="0">
            <a:off x="574586" y="40051064"/>
            <a:ext cx="12193070" cy="269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1"/>
              </a:lnSpc>
              <a:spcBef>
                <a:spcPct val="0"/>
              </a:spcBef>
            </a:pPr>
            <a:r>
              <a:rPr lang="en-US" sz="3086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Agradezco a mis tutores, Sebastián Carmona Estrada y Olga Lucía Quintero, por su guía y acompañamiento durante este proyecto. Como estudiante, su apoyo técnico y académico fue fundamental. También agradezco al equipo de Humath por su colaboración y contribuciones al desarrollo del estudio.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3592447" y="8141461"/>
            <a:ext cx="18172920" cy="85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4"/>
              </a:lnSpc>
            </a:pPr>
            <a:r>
              <a:rPr lang="en-US" b="true" sz="5428" spc="2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METODOLOGIA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3474501" y="9047742"/>
            <a:ext cx="18346437" cy="58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metodologia esta dada por el siguiente esquema: 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25572342" y="22554691"/>
            <a:ext cx="6064265" cy="9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6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Figura 5: Métricas aplicadas a modelo k-means.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DAG4_U1WpX4</dc:identifier>
  <dcterms:modified xsi:type="dcterms:W3CDTF">2011-08-01T06:04:30Z</dcterms:modified>
  <cp:revision>1</cp:revision>
  <dc:title>Póster Avanzado 1 (90 x 120 cm)</dc:title>
</cp:coreProperties>
</file>